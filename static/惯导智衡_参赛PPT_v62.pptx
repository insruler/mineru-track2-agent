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036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0" b="1">
                <a:solidFill>
                  <a:srgbClr val="FFFFFF"/>
                </a:solidFill>
              </a:defRPr>
            </a:pPr>
            <a:r>
              <a:t>惯导智衡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0B0D8"/>
                </a:solidFill>
              </a:defRPr>
            </a:pPr>
            <a:r>
              <a:t>MinerU 2026 . Track II . Data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108960"/>
            <a:ext cx="1828800" cy="411480"/>
          </a:xfrm>
          <a:prstGeom prst="rect">
            <a:avLst/>
          </a:prstGeom>
          <a:solidFill>
            <a:srgbClr val="1A3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1089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0D0F0"/>
                </a:solidFill>
              </a:defRPr>
            </a:pPr>
            <a:r>
              <a:t>PDF智能解析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0" y="3108960"/>
            <a:ext cx="1828800" cy="411480"/>
          </a:xfrm>
          <a:prstGeom prst="rect">
            <a:avLst/>
          </a:prstGeom>
          <a:solidFill>
            <a:srgbClr val="1A3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31089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0D0F0"/>
                </a:solidFill>
              </a:defRPr>
            </a:pPr>
            <a:r>
              <a:t>RAG检索增强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0" y="3108960"/>
            <a:ext cx="1828800" cy="411480"/>
          </a:xfrm>
          <a:prstGeom prst="rect">
            <a:avLst/>
          </a:prstGeom>
          <a:solidFill>
            <a:srgbClr val="1A3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0" y="31089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0D0F0"/>
                </a:solidFill>
              </a:defRPr>
            </a:pPr>
            <a:r>
              <a:t>ReAct Agent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0" y="3108960"/>
            <a:ext cx="1828800" cy="411480"/>
          </a:xfrm>
          <a:prstGeom prst="rect">
            <a:avLst/>
          </a:prstGeom>
          <a:solidFill>
            <a:srgbClr val="1A3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31089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0D0F0"/>
                </a:solidFill>
              </a:defRPr>
            </a:pPr>
            <a:r>
              <a:t>知识图谱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0" y="3108960"/>
            <a:ext cx="1828800" cy="411480"/>
          </a:xfrm>
          <a:prstGeom prst="rect">
            <a:avLst/>
          </a:prstGeom>
          <a:solidFill>
            <a:srgbClr val="1A3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31089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0D0F0"/>
                </a:solidFill>
              </a:defRPr>
            </a:pPr>
            <a:r>
              <a:t>系统截图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3749039"/>
            <a:ext cx="8229600" cy="27432"/>
          </a:xfrm>
          <a:prstGeom prst="rect">
            <a:avLst/>
          </a:prstGeom>
          <a:solidFill>
            <a:srgbClr val="3A60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931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0E0"/>
                </a:solidFill>
              </a:defRPr>
            </a:pPr>
            <a:r>
              <a:t>惯性产品检测实验室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389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90B0"/>
                </a:solidFill>
              </a:defRPr>
            </a:pPr>
            <a:r>
              <a:t>北京航天控制仪器研究所惯性技术产品检测中心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846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90B0"/>
                </a:solidFill>
              </a:defRPr>
            </a:pPr>
            <a:r>
              <a:t>参赛队伍 .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486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80A0"/>
                </a:solidFill>
              </a:defRPr>
            </a:pPr>
            <a:r>
              <a:t>github.com/insruler/MinerU-Track2-Agent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897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80A0"/>
                </a:solidFill>
              </a:defRPr>
            </a:pPr>
            <a:r>
              <a:t>49.232.174.229:7883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92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080A0"/>
                </a:solidFill>
              </a:defRPr>
            </a:pPr>
            <a: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A1F3D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37373"/>
                </a:solidFill>
              </a:defRPr>
            </a:pPr>
            <a:r>
              <a:t>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972800" cy="22860"/>
          </a:xfrm>
          <a:prstGeom prst="rect">
            <a:avLst/>
          </a:prstGeom>
          <a:solidFill>
            <a:srgbClr val="D4D4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91640"/>
            <a:ext cx="502920" cy="502920"/>
          </a:xfrm>
          <a:prstGeom prst="rect">
            <a:avLst/>
          </a:prstGeom>
          <a:solidFill>
            <a:srgbClr val="0A1F3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916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F3D"/>
                </a:solidFill>
              </a:defRPr>
            </a:pPr>
            <a:r>
              <a:t>系统概述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65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项目背景+核心能力+知识库规模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691640"/>
            <a:ext cx="502920" cy="502920"/>
          </a:xfrm>
          <a:prstGeom prst="rect">
            <a:avLst/>
          </a:prstGeom>
          <a:solidFill>
            <a:srgbClr val="0A1F3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6916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F3D"/>
                </a:solidFill>
              </a:defRPr>
            </a:pPr>
            <a:r>
              <a:t>系统架构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1965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五层技术栈+模块关系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496312"/>
            <a:ext cx="502920" cy="502920"/>
          </a:xfrm>
          <a:prstGeom prst="rect">
            <a:avLst/>
          </a:prstGeom>
          <a:solidFill>
            <a:srgbClr val="0A1F3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4963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49631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F3D"/>
                </a:solidFill>
              </a:defRPr>
            </a:pPr>
            <a:r>
              <a:t>MinerU解析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7706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PDF解析流程+云端API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496312"/>
            <a:ext cx="502920" cy="502920"/>
          </a:xfrm>
          <a:prstGeom prst="rect">
            <a:avLst/>
          </a:prstGeom>
          <a:solidFill>
            <a:srgbClr val="0A1F3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4963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249631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F3D"/>
                </a:solidFill>
              </a:defRPr>
            </a:pPr>
            <a:r>
              <a:t>ReAct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7706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执行机制+6工具+CoT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300984"/>
            <a:ext cx="502920" cy="502920"/>
          </a:xfrm>
          <a:prstGeom prst="rect">
            <a:avLst/>
          </a:prstGeom>
          <a:solidFill>
            <a:srgbClr val="0A1F3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30098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300984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F3D"/>
                </a:solidFill>
              </a:defRPr>
            </a:pPr>
            <a:r>
              <a:t>RAG检索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57530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分块策略+BM25+引用溯源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300984"/>
            <a:ext cx="502920" cy="502920"/>
          </a:xfrm>
          <a:prstGeom prst="rect">
            <a:avLst/>
          </a:prstGeom>
          <a:solidFill>
            <a:srgbClr val="0A1F3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30098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3300984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F3D"/>
                </a:solidFill>
              </a:defRPr>
            </a:pPr>
            <a:r>
              <a:t>知识图谱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357530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实体类型+D3可视化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105656"/>
            <a:ext cx="502920" cy="502920"/>
          </a:xfrm>
          <a:prstGeom prst="rect">
            <a:avLst/>
          </a:prstGeom>
          <a:solidFill>
            <a:srgbClr val="0A1F3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10565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4105656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F3D"/>
                </a:solidFill>
              </a:defRPr>
            </a:pPr>
            <a:r>
              <a:t>系统截图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437997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5大模块UI截图完整展示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4105656"/>
            <a:ext cx="502920" cy="502920"/>
          </a:xfrm>
          <a:prstGeom prst="rect">
            <a:avLst/>
          </a:prstGeom>
          <a:solidFill>
            <a:srgbClr val="0A1F3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410565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4105656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F3D"/>
                </a:solidFill>
              </a:defRPr>
            </a:pPr>
            <a:r>
              <a:t>部署运维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437997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环境要求+systemd守护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4910328"/>
            <a:ext cx="502920" cy="502920"/>
          </a:xfrm>
          <a:prstGeom prst="rect">
            <a:avLst/>
          </a:prstGeom>
          <a:solidFill>
            <a:srgbClr val="0A1F3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9103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491032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F3D"/>
                </a:solidFill>
              </a:defRPr>
            </a:pPr>
            <a:r>
              <a:t>系统能力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518464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五维能力覆盖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4910328"/>
            <a:ext cx="502920" cy="502920"/>
          </a:xfrm>
          <a:prstGeom prst="rect">
            <a:avLst/>
          </a:prstGeom>
          <a:solidFill>
            <a:srgbClr val="0A1F3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49103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80" y="491032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F3D"/>
                </a:solidFill>
              </a:defRPr>
            </a:pPr>
            <a:r>
              <a:t>开源与部署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80" y="518464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GitHub+直接验证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492240"/>
            <a:ext cx="12188952" cy="22860"/>
          </a:xfrm>
          <a:prstGeom prst="rect">
            <a:avLst/>
          </a:prstGeom>
          <a:solidFill>
            <a:srgbClr val="D4D4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6537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惯导智衡 . MinerU 赛道二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0" y="65379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502920" cy="502920"/>
          </a:xfrm>
          <a:prstGeom prst="rect">
            <a:avLst/>
          </a:prstGeom>
          <a:solidFill>
            <a:srgbClr val="C036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11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1F3D"/>
                </a:solidFill>
              </a:defRPr>
            </a:pPr>
            <a:r>
              <a:t>系统概述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97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37373"/>
                </a:solidFill>
              </a:defRPr>
            </a:pPr>
            <a:r>
              <a:t>Project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972800" cy="22860"/>
          </a:xfrm>
          <a:prstGeom prst="rect">
            <a:avLst/>
          </a:prstGeom>
          <a:solidFill>
            <a:srgbClr val="D4D4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303520" cy="109728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62C"/>
                </a:solidFill>
              </a:defRPr>
            </a:pPr>
            <a:r>
              <a:t>项目背景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A1F3D"/>
                </a:solidFill>
              </a:defRPr>
            </a:pPr>
            <a:r>
              <a:t>惯性产品检测报告是工程师判断产品质量的核心依据，长期依赖人工解读。本系统基于MinerU云端API，构建面向惯性检测领域的智能Data Agent。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691640"/>
            <a:ext cx="5029200" cy="228600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F3D"/>
                </a:solidFill>
              </a:defRPr>
            </a:pPr>
            <a:r>
              <a:t>知识库规模（v6.0）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3317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0362C"/>
                </a:solidFill>
              </a:defRPr>
            </a:pPr>
            <a:r>
              <a:t>356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8346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已解析文档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3317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0362C"/>
                </a:solidFill>
              </a:defRPr>
            </a:pPr>
            <a:r>
              <a:t>28,741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8346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RAG分块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2461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0362C"/>
                </a:solidFill>
              </a:defRPr>
            </a:pPr>
            <a:r>
              <a:t>2,314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7490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图谱实体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32461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0362C"/>
                </a:solidFill>
              </a:defRPr>
            </a:pPr>
            <a:r>
              <a:t>2,245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37490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关系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1605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0362C"/>
                </a:solidFill>
              </a:defRPr>
            </a:pPr>
            <a:r>
              <a:t>7天+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6634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稳定运行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41605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0362C"/>
                </a:solidFill>
              </a:defRPr>
            </a:pPr>
            <a:r>
              <a:t>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6634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接口通过率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3093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37373"/>
                </a:solidFill>
              </a:defRPr>
            </a:pPr>
            <a:r>
              <a:t>Dashboard: 核心指标+业务流程+快速操作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63093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37373"/>
                </a:solidFill>
              </a:defRPr>
            </a:pPr>
            <a:r>
              <a:t>PDF: 拖拽上传+批量处理+任务管理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22860"/>
          </a:xfrm>
          <a:prstGeom prst="rect">
            <a:avLst/>
          </a:prstGeom>
          <a:solidFill>
            <a:srgbClr val="D4D4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6537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01 . 系统概述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5379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</a:defRPr>
            </a:pPr>
            <a:r>
              <a:t>3</a:t>
            </a:r>
          </a:p>
        </p:txBody>
      </p:sp>
      <p:pic>
        <p:nvPicPr>
          <p:cNvPr id="31" name="Picture 30" descr="01_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926080"/>
            <a:ext cx="1097280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502920" cy="502920"/>
          </a:xfrm>
          <a:prstGeom prst="rect">
            <a:avLst/>
          </a:prstGeom>
          <a:solidFill>
            <a:srgbClr val="C036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11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1F3D"/>
                </a:solidFill>
              </a:defRPr>
            </a:pPr>
            <a:r>
              <a:t>系统架构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97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37373"/>
                </a:solidFill>
              </a:defRPr>
            </a:pPr>
            <a:r>
              <a:t>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972800" cy="22860"/>
          </a:xfrm>
          <a:prstGeom prst="rect">
            <a:avLst/>
          </a:prstGeom>
          <a:solidFill>
            <a:srgbClr val="D4D4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48640" cy="749808"/>
          </a:xfrm>
          <a:prstGeom prst="rect">
            <a:avLst/>
          </a:prstGeom>
          <a:solidFill>
            <a:srgbClr val="0A1F3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5486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Layer 1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1691640"/>
            <a:ext cx="1371600" cy="749808"/>
          </a:xfrm>
          <a:prstGeom prst="rect">
            <a:avLst/>
          </a:prstGeom>
          <a:solidFill>
            <a:srgbClr val="E8E8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737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A1F3D"/>
                </a:solidFill>
              </a:defRPr>
            </a:pPr>
            <a:r>
              <a:t>用户交互层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691640"/>
            <a:ext cx="4114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37373"/>
                </a:solidFill>
              </a:defRPr>
            </a:pPr>
            <a:r>
              <a:t>前端 Web UI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06040"/>
            <a:ext cx="548640" cy="749808"/>
          </a:xfrm>
          <a:prstGeom prst="rect">
            <a:avLst/>
          </a:prstGeom>
          <a:solidFill>
            <a:srgbClr val="0D4F8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606040"/>
            <a:ext cx="5486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Layer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2606040"/>
            <a:ext cx="1371600" cy="749808"/>
          </a:xfrm>
          <a:prstGeom prst="rect">
            <a:avLst/>
          </a:prstGeom>
          <a:solidFill>
            <a:srgbClr val="E8E8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651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A1F3D"/>
                </a:solidFill>
              </a:defRPr>
            </a:pPr>
            <a:r>
              <a:t>接口服务层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2606040"/>
            <a:ext cx="4114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37373"/>
                </a:solidFill>
              </a:defRPr>
            </a:pPr>
            <a:r>
              <a:t>FastAPI（28个REST接口）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520440"/>
            <a:ext cx="548640" cy="749808"/>
          </a:xfrm>
          <a:prstGeom prst="rect">
            <a:avLst/>
          </a:prstGeom>
          <a:solidFill>
            <a:srgbClr val="1A5F9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520440"/>
            <a:ext cx="5486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Layer 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3520440"/>
            <a:ext cx="1371600" cy="749808"/>
          </a:xfrm>
          <a:prstGeom prst="rect">
            <a:avLst/>
          </a:prstGeom>
          <a:solidFill>
            <a:srgbClr val="E8E8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3566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A1F3D"/>
                </a:solidFill>
              </a:defRPr>
            </a:pPr>
            <a:r>
              <a:t>业务逻辑层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3520440"/>
            <a:ext cx="4114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37373"/>
                </a:solidFill>
              </a:defRPr>
            </a:pPr>
            <a:r>
              <a:t>ReAct+RAG+KG+MinerU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434840"/>
            <a:ext cx="548640" cy="749808"/>
          </a:xfrm>
          <a:prstGeom prst="rect">
            <a:avLst/>
          </a:prstGeom>
          <a:solidFill>
            <a:srgbClr val="2A7FB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434840"/>
            <a:ext cx="5486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Layer 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4434840"/>
            <a:ext cx="1371600" cy="749808"/>
          </a:xfrm>
          <a:prstGeom prst="rect">
            <a:avLst/>
          </a:prstGeom>
          <a:solidFill>
            <a:srgbClr val="E8E8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4480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A1F3D"/>
                </a:solidFill>
              </a:defRPr>
            </a:pPr>
            <a:r>
              <a:t>知识存储层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4434840"/>
            <a:ext cx="4114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37373"/>
                </a:solidFill>
              </a:defRPr>
            </a:pPr>
            <a:r>
              <a:t>SQLite+TF-IDF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5349240"/>
            <a:ext cx="548640" cy="749808"/>
          </a:xfrm>
          <a:prstGeom prst="rect">
            <a:avLst/>
          </a:prstGeom>
          <a:solidFill>
            <a:srgbClr val="3A9FD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349240"/>
            <a:ext cx="5486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Layer 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0" y="5349240"/>
            <a:ext cx="1371600" cy="749808"/>
          </a:xfrm>
          <a:prstGeom prst="rect">
            <a:avLst/>
          </a:prstGeom>
          <a:solidFill>
            <a:srgbClr val="E8E8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0" y="5394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A1F3D"/>
                </a:solidFill>
              </a:defRPr>
            </a:pPr>
            <a:r>
              <a:t>基础能力层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4640" y="5349240"/>
            <a:ext cx="4114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37373"/>
                </a:solidFill>
              </a:defRPr>
            </a:pPr>
            <a:r>
              <a:t>MiniMax LLM+MinerU API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2320" y="1691640"/>
            <a:ext cx="4389120" cy="457200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0" y="1874519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1F3D"/>
                </a:solidFill>
              </a:defRPr>
            </a:pPr>
            <a:r>
              <a:t>模块关系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23317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1F3D"/>
                </a:solidFill>
              </a:defRPr>
            </a:pPr>
            <a:r>
              <a:t>-&gt; 用户 -&gt; Frontend UI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27889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1F3D"/>
                </a:solidFill>
              </a:defRPr>
            </a:pPr>
            <a:r>
              <a:t>-&gt; Frontend -&gt; 28 REST APIs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32461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1F3D"/>
                </a:solidFill>
              </a:defRPr>
            </a:pPr>
            <a:r>
              <a:t>-&gt; API -&gt; ReAct Agent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37033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1F3D"/>
                </a:solidFill>
              </a:defRPr>
            </a:pPr>
            <a:r>
              <a:t>-&gt; Agent -&gt; RAG（6工具）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41605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1F3D"/>
                </a:solidFill>
              </a:defRPr>
            </a:pPr>
            <a:r>
              <a:t>-&gt; Agent -&gt; KG查询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46177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1F3D"/>
                </a:solidFill>
              </a:defRPr>
            </a:pPr>
            <a:r>
              <a:t>-&gt; Agent -&gt; MinerU解析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50749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1F3D"/>
                </a:solidFill>
              </a:defRPr>
            </a:pPr>
            <a:r>
              <a:t>-&gt; RAG/KG -&gt; SQLite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55321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1F3D"/>
                </a:solidFill>
              </a:defRPr>
            </a:pPr>
            <a:r>
              <a:t>-&gt; MinerU -&gt; 云端API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492240"/>
            <a:ext cx="12188952" cy="22860"/>
          </a:xfrm>
          <a:prstGeom prst="rect">
            <a:avLst/>
          </a:prstGeom>
          <a:solidFill>
            <a:srgbClr val="D4D4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537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02 . 系统架构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5379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</a:defRPr>
            </a:pPr>
            <a:r>
              <a:t>4</a:t>
            </a:r>
          </a:p>
        </p:txBody>
      </p:sp>
      <p:pic>
        <p:nvPicPr>
          <p:cNvPr id="45" name="Picture 44" descr="05b_do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26080"/>
            <a:ext cx="1097280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502920" cy="502920"/>
          </a:xfrm>
          <a:prstGeom prst="rect">
            <a:avLst/>
          </a:prstGeom>
          <a:solidFill>
            <a:srgbClr val="C036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11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1F3D"/>
                </a:solidFill>
              </a:defRPr>
            </a:pPr>
            <a:r>
              <a:t>MinerU 云端解析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37373"/>
                </a:solidFill>
              </a:defRPr>
            </a:pPr>
            <a:r>
              <a:t>PDF Document Parsing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972800" cy="22860"/>
          </a:xfrm>
          <a:prstGeom prst="rect">
            <a:avLst/>
          </a:prstGeom>
          <a:solidFill>
            <a:srgbClr val="D4D4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62C"/>
                </a:solidFill>
              </a:defRPr>
            </a:pPr>
            <a:r>
              <a:t>解析流程（6步）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48840"/>
            <a:ext cx="457200" cy="457200"/>
          </a:xfrm>
          <a:prstGeom prst="rect">
            <a:avLst/>
          </a:prstGeom>
          <a:solidFill>
            <a:srgbClr val="0D4F8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0160" y="2148840"/>
            <a:ext cx="3931920" cy="54864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1F3D"/>
                </a:solidFill>
              </a:defRPr>
            </a:pPr>
            <a:r>
              <a:t>上传PDF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4048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拖拽/点击上传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807208"/>
            <a:ext cx="457200" cy="457200"/>
          </a:xfrm>
          <a:prstGeom prst="rect">
            <a:avLst/>
          </a:prstGeom>
          <a:solidFill>
            <a:srgbClr val="0D4F8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8072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80160" y="2807208"/>
            <a:ext cx="3931920" cy="54864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28072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1F3D"/>
                </a:solidFill>
              </a:defRPr>
            </a:pPr>
            <a:r>
              <a:t>获取预签名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063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/api/v4/file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465576"/>
            <a:ext cx="457200" cy="457200"/>
          </a:xfrm>
          <a:prstGeom prst="rect">
            <a:avLst/>
          </a:prstGeom>
          <a:solidFill>
            <a:srgbClr val="0D4F8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655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80160" y="3465576"/>
            <a:ext cx="3931920" cy="54864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346557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1F3D"/>
                </a:solidFill>
              </a:defRPr>
            </a:pPr>
            <a:r>
              <a:t>直传OSS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7216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PUT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123944"/>
            <a:ext cx="457200" cy="457200"/>
          </a:xfrm>
          <a:prstGeom prst="rect">
            <a:avLst/>
          </a:prstGeom>
          <a:solidFill>
            <a:srgbClr val="0D4F8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12394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80160" y="4123944"/>
            <a:ext cx="3931920" cy="54864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41239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1F3D"/>
                </a:solidFill>
              </a:defRPr>
            </a:pPr>
            <a:r>
              <a:t>提交解析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37997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/extract/task/batch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782312"/>
            <a:ext cx="457200" cy="457200"/>
          </a:xfrm>
          <a:prstGeom prst="rect">
            <a:avLst/>
          </a:prstGeom>
          <a:solidFill>
            <a:srgbClr val="0D4F8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7823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80160" y="4782312"/>
            <a:ext cx="3931920" cy="54864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47823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1F3D"/>
                </a:solidFill>
              </a:defRPr>
            </a:pPr>
            <a:r>
              <a:t>轮询状态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03834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/status/{id}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5440679"/>
            <a:ext cx="457200" cy="457200"/>
          </a:xfrm>
          <a:prstGeom prst="rect">
            <a:avLst/>
          </a:prstGeom>
          <a:solidFill>
            <a:srgbClr val="0D4F8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4406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80160" y="5440679"/>
            <a:ext cx="3931920" cy="54864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71600" y="544067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1F3D"/>
                </a:solidFill>
              </a:defRPr>
            </a:pPr>
            <a:r>
              <a:t>结果入库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569671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SQLite知识库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0" y="1691640"/>
            <a:ext cx="5943600" cy="173736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0" y="18288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1F3D"/>
                </a:solidFill>
              </a:defRPr>
            </a:pPr>
            <a:r>
              <a:t>API配置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0" y="2240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1F3D"/>
                </a:solidFill>
              </a:defRPr>
            </a:pPr>
            <a:r>
              <a:t>* Endpoint: https://mineru.net/api/v4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0" y="26243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1F3D"/>
                </a:solidFill>
              </a:defRPr>
            </a:pPr>
            <a:r>
              <a:t>* 认证: Bearer Token (JWT)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3008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1F3D"/>
                </a:solidFill>
              </a:defRPr>
            </a:pPr>
            <a:r>
              <a:t>* 支持: PDF.DOCX.PPTX.XLSX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0" y="339242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1F3D"/>
                </a:solidFill>
              </a:defRPr>
            </a:pPr>
            <a:r>
              <a:t>* 解析: 表格.公式.图表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0" y="37764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1F3D"/>
                </a:solidFill>
              </a:defRPr>
            </a:pPr>
            <a:r>
              <a:t>* 已处理: 300+ PDF -&gt; 356篇文档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0" y="640080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37373"/>
                </a:solidFill>
              </a:defRPr>
            </a:pPr>
            <a:r>
              <a:t>PDF: 拖拽上传+批量处理+任务管理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492240"/>
            <a:ext cx="12188952" cy="22860"/>
          </a:xfrm>
          <a:prstGeom prst="rect">
            <a:avLst/>
          </a:prstGeom>
          <a:solidFill>
            <a:srgbClr val="D4D4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6537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03 . MinerU 云端解析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0" y="65379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</a:defRPr>
            </a:pPr>
            <a:r>
              <a:t>5</a:t>
            </a:r>
          </a:p>
        </p:txBody>
      </p:sp>
      <p:pic>
        <p:nvPicPr>
          <p:cNvPr id="50" name="Picture 49" descr="02b_agent_ta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691640"/>
            <a:ext cx="56692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502920" cy="502920"/>
          </a:xfrm>
          <a:prstGeom prst="rect">
            <a:avLst/>
          </a:prstGeom>
          <a:solidFill>
            <a:srgbClr val="C036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11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1F3D"/>
                </a:solidFill>
              </a:defRPr>
            </a:pPr>
            <a:r>
              <a:t>ReAct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37373"/>
                </a:solidFill>
              </a:defRPr>
            </a:pPr>
            <a:r>
              <a:t>Reason-Act-Observe . Chain-of-Thought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972800" cy="22860"/>
          </a:xfrm>
          <a:prstGeom prst="rect">
            <a:avLst/>
          </a:prstGeom>
          <a:solidFill>
            <a:srgbClr val="D4D4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1371600" cy="1188720"/>
          </a:xfrm>
          <a:prstGeom prst="rect">
            <a:avLst/>
          </a:prstGeom>
          <a:solidFill>
            <a:srgbClr val="C036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Reason</a:t>
            </a:r>
            <a:br/>
            <a:r>
              <a:t>推理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2468880"/>
            <a:ext cx="274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737373"/>
                </a:solidFill>
              </a:defRPr>
            </a:pPr>
            <a:r>
              <a:t>-&gt;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2194560"/>
            <a:ext cx="1371600" cy="1188720"/>
          </a:xfrm>
          <a:prstGeom prst="rect">
            <a:avLst/>
          </a:prstGeom>
          <a:solidFill>
            <a:srgbClr val="0D4F8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246888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Act</a:t>
            </a:r>
            <a:br/>
            <a:r>
              <a:t>执行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468880"/>
            <a:ext cx="274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737373"/>
                </a:solidFill>
              </a:defRPr>
            </a:pPr>
            <a:r>
              <a:t>-&gt;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0" y="2194560"/>
            <a:ext cx="1371600" cy="1188720"/>
          </a:xfrm>
          <a:prstGeom prst="rect">
            <a:avLst/>
          </a:prstGeom>
          <a:solidFill>
            <a:srgbClr val="1A7A4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0" y="246888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Observe</a:t>
            </a:r>
            <a:br/>
            <a:r>
              <a:t>观察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520440"/>
            <a:ext cx="5029200" cy="27432"/>
          </a:xfrm>
          <a:prstGeom prst="rect">
            <a:avLst/>
          </a:prstGeom>
          <a:solidFill>
            <a:srgbClr val="D4D4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566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37373"/>
                </a:solidFill>
              </a:defRPr>
            </a:pPr>
            <a:r>
              <a:t>最多5步迭代，LLM推理决定是否继续或输出最终答案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0233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62C"/>
                </a:solidFill>
              </a:defRPr>
            </a:pPr>
            <a:r>
              <a:t>已注册工具（6个）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480560"/>
            <a:ext cx="3474720" cy="64008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480560"/>
            <a:ext cx="73152" cy="640080"/>
          </a:xfrm>
          <a:prstGeom prst="rect">
            <a:avLst/>
          </a:prstGeom>
          <a:solidFill>
            <a:srgbClr val="0D4F8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5262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A1F3D"/>
                </a:solidFill>
              </a:defRPr>
            </a:pPr>
            <a:r>
              <a:t>search_knowledge_base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82803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37373"/>
                </a:solidFill>
              </a:defRPr>
            </a:pPr>
            <a:r>
              <a:t>RAG分块检索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59" y="4480560"/>
            <a:ext cx="3474720" cy="64008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59" y="4480560"/>
            <a:ext cx="73152" cy="640080"/>
          </a:xfrm>
          <a:prstGeom prst="rect">
            <a:avLst/>
          </a:prstGeom>
          <a:solidFill>
            <a:srgbClr val="0D4F8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19" y="45262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A1F3D"/>
                </a:solidFill>
              </a:defRPr>
            </a:pPr>
            <a:r>
              <a:t>get_kg_entities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19" y="482803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37373"/>
                </a:solidFill>
              </a:defRPr>
            </a:pPr>
            <a:r>
              <a:t>KG实体查询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4480560"/>
            <a:ext cx="3474720" cy="64008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4480560"/>
            <a:ext cx="73152" cy="640080"/>
          </a:xfrm>
          <a:prstGeom prst="rect">
            <a:avLst/>
          </a:prstGeom>
          <a:solidFill>
            <a:srgbClr val="0D4F8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45262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A1F3D"/>
                </a:solidFill>
              </a:defRPr>
            </a:pPr>
            <a:r>
              <a:t>get_kg_relations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82803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37373"/>
                </a:solidFill>
              </a:defRPr>
            </a:pPr>
            <a:r>
              <a:t>实体关系查询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5230368"/>
            <a:ext cx="3474720" cy="64008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" y="5230368"/>
            <a:ext cx="73152" cy="640080"/>
          </a:xfrm>
          <a:prstGeom prst="rect">
            <a:avLst/>
          </a:prstGeom>
          <a:solidFill>
            <a:srgbClr val="0D4F8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27608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A1F3D"/>
                </a:solidFill>
              </a:defRPr>
            </a:pPr>
            <a:r>
              <a:t>extract_structured_fields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55778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37373"/>
                </a:solidFill>
              </a:defRPr>
            </a:pPr>
            <a:r>
              <a:t>结构化抽取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80559" y="5230368"/>
            <a:ext cx="3474720" cy="64008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80559" y="5230368"/>
            <a:ext cx="73152" cy="640080"/>
          </a:xfrm>
          <a:prstGeom prst="rect">
            <a:avLst/>
          </a:prstGeom>
          <a:solidFill>
            <a:srgbClr val="0D4F8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17719" y="527608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A1F3D"/>
                </a:solidFill>
              </a:defRPr>
            </a:pPr>
            <a:r>
              <a:t>call_llm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17719" y="55778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37373"/>
                </a:solidFill>
              </a:defRPr>
            </a:pPr>
            <a:r>
              <a:t>LLM推理调用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5230368"/>
            <a:ext cx="3474720" cy="64008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29600" y="5230368"/>
            <a:ext cx="73152" cy="640080"/>
          </a:xfrm>
          <a:prstGeom prst="rect">
            <a:avLst/>
          </a:prstGeom>
          <a:solidFill>
            <a:srgbClr val="0D4F8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66760" y="527608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A1F3D"/>
                </a:solidFill>
              </a:defRPr>
            </a:pPr>
            <a:r>
              <a:t>get_stats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60" y="55778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37373"/>
                </a:solidFill>
              </a:defRPr>
            </a:pPr>
            <a:r>
              <a:t>系统统计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0" y="585216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37373"/>
                </a:solidFill>
              </a:defRPr>
            </a:pPr>
            <a:r>
              <a:t>Agent: ReAct+CoT+任务配置+执行控制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492240"/>
            <a:ext cx="12188952" cy="22860"/>
          </a:xfrm>
          <a:prstGeom prst="rect">
            <a:avLst/>
          </a:prstGeom>
          <a:solidFill>
            <a:srgbClr val="D4D4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6537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04 . ReAct Agent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0" y="65379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</a:defRPr>
            </a:pPr>
            <a:r>
              <a:t>6</a:t>
            </a:r>
          </a:p>
        </p:txBody>
      </p:sp>
      <p:pic>
        <p:nvPicPr>
          <p:cNvPr id="47" name="Picture 46" descr="03c_qa_answ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691640"/>
            <a:ext cx="56692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502920" cy="502920"/>
          </a:xfrm>
          <a:prstGeom prst="rect">
            <a:avLst/>
          </a:prstGeom>
          <a:solidFill>
            <a:srgbClr val="C036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11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1F3D"/>
                </a:solidFill>
              </a:defRPr>
            </a:pPr>
            <a:r>
              <a:t>RAG 检索增强问答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37373"/>
                </a:solidFill>
              </a:defRPr>
            </a:pPr>
            <a:r>
              <a:t>TF-IDF + BM25 Dual-Channel Retrieval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972800" cy="22860"/>
          </a:xfrm>
          <a:prstGeom prst="rect">
            <a:avLst/>
          </a:prstGeom>
          <a:solidFill>
            <a:srgbClr val="D4D4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2011680" cy="1280160"/>
          </a:xfrm>
          <a:prstGeom prst="rect">
            <a:avLst/>
          </a:prstGeom>
          <a:solidFill>
            <a:srgbClr val="0A1F3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用户问题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2560320"/>
            <a:ext cx="274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37373"/>
                </a:solidFill>
              </a:defRPr>
            </a:pPr>
            <a:r>
              <a:t>-&gt;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194560"/>
            <a:ext cx="2011680" cy="128016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23317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A1F3D"/>
                </a:solidFill>
              </a:defRPr>
            </a:pPr>
            <a:r>
              <a:t>TF-IDF向量化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7432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37373"/>
                </a:solidFill>
              </a:defRPr>
            </a:pPr>
            <a:r>
              <a:t>候选块召回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2560320"/>
            <a:ext cx="274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37373"/>
                </a:solidFill>
              </a:defRPr>
            </a:pPr>
            <a:r>
              <a:t>-&gt;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0" y="2194560"/>
            <a:ext cx="2011680" cy="128016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23317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A1F3D"/>
                </a:solidFill>
              </a:defRPr>
            </a:pPr>
            <a:r>
              <a:t>BM25重排序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7432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37373"/>
                </a:solidFill>
              </a:defRPr>
            </a:pPr>
            <a:r>
              <a:t>Top-K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2560320"/>
            <a:ext cx="274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37373"/>
                </a:solidFill>
              </a:defRPr>
            </a:pPr>
            <a:r>
              <a:t>-&gt;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0" y="2194560"/>
            <a:ext cx="2011680" cy="128016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0" y="23317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A1F3D"/>
                </a:solidFill>
              </a:defRPr>
            </a:pPr>
            <a:r>
              <a:t>上下文构建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27432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37373"/>
                </a:solidFill>
              </a:defRPr>
            </a:pPr>
            <a:r>
              <a:t>512字符块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6920" y="2560320"/>
            <a:ext cx="274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37373"/>
                </a:solidFill>
              </a:defRPr>
            </a:pPr>
            <a:r>
              <a:t>-&gt;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75520" y="2194560"/>
            <a:ext cx="2011680" cy="128016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0" y="23317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A1F3D"/>
                </a:solidFill>
              </a:defRPr>
            </a:pPr>
            <a:r>
              <a:t>LLM生成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27432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37373"/>
                </a:solidFill>
              </a:defRPr>
            </a:pPr>
            <a:r>
              <a:t>引用溯源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611880"/>
            <a:ext cx="3291840" cy="41148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65760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1F3D"/>
                </a:solidFill>
              </a:defRPr>
            </a:pPr>
            <a:r>
              <a:t>块大小: 512字符/块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3611880"/>
            <a:ext cx="3291840" cy="41148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0" y="365760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1F3D"/>
                </a:solidFill>
              </a:defRPr>
            </a:pPr>
            <a:r>
              <a:t>重叠: 128字符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80960" y="3611880"/>
            <a:ext cx="3291840" cy="41148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0" y="365760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1F3D"/>
                </a:solidFill>
              </a:defRPr>
            </a:pPr>
            <a:r>
              <a:t>最小过滤: 50字符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114800"/>
            <a:ext cx="3291840" cy="41148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16052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1F3D"/>
                </a:solidFill>
              </a:defRPr>
            </a:pPr>
            <a:r>
              <a:t>总分块数: 28,741块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0" y="4114800"/>
            <a:ext cx="3291840" cy="41148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80" y="416052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1F3D"/>
                </a:solidFill>
              </a:defRPr>
            </a:pPr>
            <a:r>
              <a:t>覆盖文档: 356篇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1691640"/>
            <a:ext cx="5577840" cy="475488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0" y="18288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1F3D"/>
                </a:solidFill>
              </a:defRPr>
            </a:pPr>
            <a:r>
              <a:t>问答示例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22402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A1F3D"/>
                </a:solidFill>
              </a:defRPr>
            </a:pPr>
            <a:r>
              <a:t>Q: 什么是标度因数？</a:t>
            </a:r>
            <a:br/>
            <a:br/>
            <a:r>
              <a:t>A: 标度因数是惯性器件输出与输入之间的比例系数，反映传感器的灵敏度特性。</a:t>
            </a:r>
            <a:br/>
            <a:br/>
            <a:r>
              <a:t>- 陀螺仪: 输入角速率与输出脉冲率的比例系数</a:t>
            </a:r>
            <a:br/>
            <a:r>
              <a:t>- 加速度计: 输入加速度与输出电信号的比例系数</a:t>
            </a:r>
            <a:br/>
            <a:br/>
            <a:r>
              <a:t>[来源: 检测报告 JCBG01 系列]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37373"/>
                </a:solidFill>
              </a:defRPr>
            </a:pPr>
            <a:r>
              <a:t>RAG: 惯性领域知识智能检索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492240"/>
            <a:ext cx="12188952" cy="22860"/>
          </a:xfrm>
          <a:prstGeom prst="rect">
            <a:avLst/>
          </a:prstGeom>
          <a:solidFill>
            <a:srgbClr val="D4D4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6537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05 . RAG 检索增强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5379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</a:defRPr>
            </a:pPr>
            <a:r>
              <a:t>7</a:t>
            </a:r>
          </a:p>
        </p:txBody>
      </p:sp>
      <p:pic>
        <p:nvPicPr>
          <p:cNvPr id="43" name="Picture 42" descr="04_k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691640"/>
            <a:ext cx="56692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502920" cy="502920"/>
          </a:xfrm>
          <a:prstGeom prst="rect">
            <a:avLst/>
          </a:prstGeom>
          <a:solidFill>
            <a:srgbClr val="C036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11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1F3D"/>
                </a:solidFill>
              </a:defRPr>
            </a:pPr>
            <a:r>
              <a:t>知识图谱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37373"/>
                </a:solidFill>
              </a:defRPr>
            </a:pPr>
            <a:r>
              <a:t>Domain Knowledge Graph . D3.js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972800" cy="22860"/>
          </a:xfrm>
          <a:prstGeom prst="rect">
            <a:avLst/>
          </a:prstGeom>
          <a:solidFill>
            <a:srgbClr val="D4D4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05840" cy="694944"/>
          </a:xfrm>
          <a:prstGeom prst="rect">
            <a:avLst/>
          </a:prstGeom>
          <a:solidFill>
            <a:srgbClr val="0A1F3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10058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器件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1691640"/>
            <a:ext cx="4023360" cy="694944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40" y="182880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A1F3D"/>
                </a:solidFill>
              </a:defRPr>
            </a:pPr>
            <a:r>
              <a:t>陀螺仪 / 加速度计 / IMU / 惯性导航系统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496312"/>
            <a:ext cx="1005840" cy="694944"/>
          </a:xfrm>
          <a:prstGeom prst="rect">
            <a:avLst/>
          </a:prstGeom>
          <a:solidFill>
            <a:srgbClr val="0D4F8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96312"/>
            <a:ext cx="10058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参数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2496312"/>
            <a:ext cx="4023360" cy="694944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0240" y="2633472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A1F3D"/>
                </a:solidFill>
              </a:defRPr>
            </a:pPr>
            <a:r>
              <a:t>标度因数 / 零偏稳定性 / 随机游走 / Allan方差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300984"/>
            <a:ext cx="1005840" cy="694944"/>
          </a:xfrm>
          <a:prstGeom prst="rect">
            <a:avLst/>
          </a:prstGeom>
          <a:solidFill>
            <a:srgbClr val="1A6F4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300984"/>
            <a:ext cx="10058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试验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3300984"/>
            <a:ext cx="4023360" cy="694944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0240" y="3438144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A1F3D"/>
                </a:solidFill>
              </a:defRPr>
            </a:pPr>
            <a:r>
              <a:t>角振动试验 / 温度循环 / 冲击振动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105656"/>
            <a:ext cx="1005840" cy="694944"/>
          </a:xfrm>
          <a:prstGeom prst="rect">
            <a:avLst/>
          </a:prstGeom>
          <a:solidFill>
            <a:srgbClr val="8A402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105656"/>
            <a:ext cx="10058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标准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4105656"/>
            <a:ext cx="4023360" cy="694944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20240" y="4242816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A1F3D"/>
                </a:solidFill>
              </a:defRPr>
            </a:pPr>
            <a:r>
              <a:t>GJB系列 / QJ系列 / YT系列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910328"/>
            <a:ext cx="1005840" cy="694944"/>
          </a:xfrm>
          <a:prstGeom prst="rect">
            <a:avLst/>
          </a:prstGeom>
          <a:solidFill>
            <a:srgbClr val="5A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910328"/>
            <a:ext cx="10058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环境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0" y="4910328"/>
            <a:ext cx="4023360" cy="694944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20240" y="504748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A1F3D"/>
                </a:solidFill>
              </a:defRPr>
            </a:pPr>
            <a:r>
              <a:t>温漂 / 静电放电 / 磁场干扰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1691640"/>
            <a:ext cx="5669280" cy="256032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18288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1F3D"/>
                </a:solidFill>
              </a:defRPr>
            </a:pPr>
            <a:r>
              <a:t>构建流程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224028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MinerU解析 -&gt; LLM实体抽取 -&gt; 关系识别 -&gt; SQLite存储 -&gt; D3可视化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29260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62C"/>
                </a:solidFill>
              </a:defRPr>
            </a:pPr>
            <a:r>
              <a:t>当前规模: 2,314实体 / 2,245关系 / 5大类型</a:t>
            </a:r>
          </a:p>
        </p:txBody>
      </p:sp>
      <p:pic>
        <p:nvPicPr>
          <p:cNvPr id="31" name="Picture 30" descr="04_k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3657600"/>
            <a:ext cx="5669280" cy="283464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943600" y="649224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37373"/>
                </a:solidFill>
              </a:defRPr>
            </a:pPr>
            <a:r>
              <a:t>KG: D3力导向可视化+多维分类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22860"/>
          </a:xfrm>
          <a:prstGeom prst="rect">
            <a:avLst/>
          </a:prstGeom>
          <a:solidFill>
            <a:srgbClr val="D4D4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6537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06 . 知识图谱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5379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502920" cy="502920"/>
          </a:xfrm>
          <a:prstGeom prst="rect">
            <a:avLst/>
          </a:prstGeom>
          <a:solidFill>
            <a:srgbClr val="C036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11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1F3D"/>
                </a:solidFill>
              </a:defRPr>
            </a:pPr>
            <a:r>
              <a:t>系统截图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37373"/>
                </a:solidFill>
              </a:defRPr>
            </a:pPr>
            <a:r>
              <a:t>System Screenshots . 5 Core Modules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972800" cy="22860"/>
          </a:xfrm>
          <a:prstGeom prst="rect">
            <a:avLst/>
          </a:prstGeom>
          <a:solidFill>
            <a:srgbClr val="D4D4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37373"/>
                </a:solidFill>
              </a:defRPr>
            </a:pPr>
            <a:r>
              <a:t>Dashboard: 核心指标+业务流程+快速操作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47472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37373"/>
                </a:solidFill>
              </a:defRPr>
            </a:pPr>
            <a:r>
              <a:t>Agent: ReAct+CoT+任务配置+执行控制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0352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37373"/>
                </a:solidFill>
              </a:defRPr>
            </a:pPr>
            <a:r>
              <a:t>RAG: 惯性领域知识智能检索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530352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37373"/>
                </a:solidFill>
              </a:defRPr>
            </a:pPr>
            <a:r>
              <a:t>KG: D3力导向可视化+多维分类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713232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37373"/>
                </a:solidFill>
              </a:defRPr>
            </a:pPr>
            <a:r>
              <a:t>PDF: 拖拽上传+批量处理+任务管理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92240"/>
            <a:ext cx="12188952" cy="22860"/>
          </a:xfrm>
          <a:prstGeom prst="rect">
            <a:avLst/>
          </a:prstGeom>
          <a:solidFill>
            <a:srgbClr val="D4D4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537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07 . 系统截图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5379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</a:defRPr>
            </a:pPr>
            <a:r>
              <a:t>9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1737360"/>
            <a:ext cx="5486400" cy="169164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5040" y="1737360"/>
            <a:ext cx="5486400" cy="169164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3520440"/>
            <a:ext cx="5486400" cy="169164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35040" y="3520440"/>
            <a:ext cx="5486400" cy="169164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91840" y="5303520"/>
            <a:ext cx="548640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502920" cy="502920"/>
          </a:xfrm>
          <a:prstGeom prst="rect">
            <a:avLst/>
          </a:prstGeom>
          <a:solidFill>
            <a:srgbClr val="C036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11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1F3D"/>
                </a:solidFill>
              </a:defRPr>
            </a:pPr>
            <a:r>
              <a:t>部署与运维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37373"/>
                </a:solidFill>
              </a:defRPr>
            </a:pPr>
            <a:r>
              <a:t>Deployment and 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972800" cy="22860"/>
          </a:xfrm>
          <a:prstGeom prst="rect">
            <a:avLst/>
          </a:prstGeom>
          <a:solidFill>
            <a:srgbClr val="D4D4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303520" cy="443484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1F3D"/>
                </a:solidFill>
              </a:defRPr>
            </a:pPr>
            <a:r>
              <a:t>快速启动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A1F3D"/>
                </a:solidFill>
              </a:defRPr>
            </a:pPr>
            <a:r>
              <a:t>git clone https://github.com/insruler/MinerU-Track2-Agent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2491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A1F3D"/>
                </a:solidFill>
              </a:defRPr>
            </a:pPr>
            <a:r>
              <a:t>pip install -r requirements.txt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63824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A1F3D"/>
                </a:solidFill>
              </a:defRPr>
            </a:pPr>
            <a:r>
              <a:t>export MINIMAX_API_KEY=your_key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02736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A1F3D"/>
                </a:solidFill>
              </a:defRPr>
            </a:pPr>
            <a:r>
              <a:t>export MINIMAX_GROUP_ID=your_group_id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A1F3D"/>
                </a:solidFill>
              </a:defRPr>
            </a:pPr>
            <a:r>
              <a:t>python3 app.py  # http://localhost:7883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691640"/>
            <a:ext cx="5303520" cy="210312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1F3D"/>
                </a:solidFill>
              </a:defRPr>
            </a:pPr>
            <a:r>
              <a:t>systemd守护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2860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A1F3D"/>
                </a:solidFill>
              </a:defRPr>
            </a:pPr>
            <a:r>
              <a:t>sudo cp deploy/insruler.service /etc/systemd/system/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697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A1F3D"/>
                </a:solidFill>
              </a:defRPr>
            </a:pPr>
            <a:r>
              <a:t>sudo systemctl daemon-reload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1089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A1F3D"/>
                </a:solidFill>
              </a:defRPr>
            </a:pPr>
            <a:r>
              <a:t>sudo systemctl enable --now insruler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520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A1F3D"/>
                </a:solidFill>
              </a:defRPr>
            </a:pPr>
            <a:r>
              <a:t>systemctl status insruler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886200"/>
            <a:ext cx="5303520" cy="224028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0233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1F3D"/>
                </a:solidFill>
              </a:defRPr>
            </a:pPr>
            <a:r>
              <a:t>在线验证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4805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A1F3D"/>
                </a:solidFill>
              </a:defRPr>
            </a:pPr>
            <a:r>
              <a:t>演示: http://49.232.174.229:7883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892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A1F3D"/>
                </a:solidFill>
              </a:defRPr>
            </a:pPr>
            <a:r>
              <a:t>API文档: http://49.232.174.229:7883/api/docs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3035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A1F3D"/>
                </a:solidFill>
              </a:defRPr>
            </a:pPr>
            <a:r>
              <a:t>健康检查: http://49.232.174.229:7883/api/health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7150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A1F3D"/>
                </a:solidFill>
              </a:defRPr>
            </a:pPr>
            <a:r>
              <a:t>统计: http://49.232.174.229:7883/api/stats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92240"/>
            <a:ext cx="12188952" cy="22860"/>
          </a:xfrm>
          <a:prstGeom prst="rect">
            <a:avLst/>
          </a:prstGeom>
          <a:solidFill>
            <a:srgbClr val="D4D4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6537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08 . 部署与运维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5379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502920" cy="502920"/>
          </a:xfrm>
          <a:prstGeom prst="rect">
            <a:avLst/>
          </a:prstGeom>
          <a:solidFill>
            <a:srgbClr val="C036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11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1F3D"/>
                </a:solidFill>
              </a:defRPr>
            </a:pPr>
            <a: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37373"/>
                </a:solidFill>
              </a:defRPr>
            </a:pPr>
            <a: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972800" cy="22860"/>
          </a:xfrm>
          <a:prstGeom prst="rect">
            <a:avLst/>
          </a:prstGeom>
          <a:solidFill>
            <a:srgbClr val="D4D4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97280" cy="822960"/>
          </a:xfrm>
          <a:prstGeom prst="rect">
            <a:avLst/>
          </a:prstGeom>
          <a:solidFill>
            <a:srgbClr val="C036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20分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0240" y="1691640"/>
            <a:ext cx="9601200" cy="82296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17373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1F3D"/>
                </a:solidFill>
              </a:defRPr>
            </a:pPr>
            <a:r>
              <a:t>文档理解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10312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真正RAG（28,741 chunks）.TF-IDF+BM25双路检索.引用溯源.356篇文档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51760"/>
            <a:ext cx="1097280" cy="822960"/>
          </a:xfrm>
          <a:prstGeom prst="rect">
            <a:avLst/>
          </a:prstGeom>
          <a:solidFill>
            <a:srgbClr val="C036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65176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15分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20240" y="2651760"/>
            <a:ext cx="9601200" cy="82296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11680" y="26974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1F3D"/>
                </a:solidFill>
              </a:defRPr>
            </a:pPr>
            <a:r>
              <a:t>技术创新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306324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ReAct+CoT思维链.领域知识图谱（2,314实体）.文档类型感知Schema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611880"/>
            <a:ext cx="1097280" cy="822960"/>
          </a:xfrm>
          <a:prstGeom prst="rect">
            <a:avLst/>
          </a:prstGeom>
          <a:solidFill>
            <a:srgbClr val="C036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61188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30分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20240" y="3611880"/>
            <a:ext cx="9601200" cy="82296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11680" y="36576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1F3D"/>
                </a:solidFill>
              </a:defRPr>
            </a:pPr>
            <a:r>
              <a:t>Agent执行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402336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完整ReAct循环（Reason-Act-Observe）.6个注册工具.任务取消/暂停/恢复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572000"/>
            <a:ext cx="1097280" cy="822960"/>
          </a:xfrm>
          <a:prstGeom prst="rect">
            <a:avLst/>
          </a:prstGeom>
          <a:solidFill>
            <a:srgbClr val="C036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57200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20分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20240" y="4572000"/>
            <a:ext cx="9601200" cy="82296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11680" y="46177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1F3D"/>
                </a:solidFill>
              </a:defRPr>
            </a:pPr>
            <a:r>
              <a:t>系统稳定性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498348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systemd守护（崩溃自动重启）.Correlation-ID全链路追踪.Pydantic v2参数校验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5532120"/>
            <a:ext cx="1097280" cy="822960"/>
          </a:xfrm>
          <a:prstGeom prst="rect">
            <a:avLst/>
          </a:prstGeom>
          <a:solidFill>
            <a:srgbClr val="C036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53212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15分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20240" y="5532120"/>
            <a:ext cx="9601200" cy="82296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11680" y="55778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1F3D"/>
                </a:solidFill>
              </a:defRPr>
            </a:pPr>
            <a:r>
              <a:t>开源价值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594360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GitHub公开仓库完整代码.详细文档+PPT+视频.服务可直接访问验证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6492240"/>
            <a:ext cx="10515600" cy="22860"/>
          </a:xfrm>
          <a:prstGeom prst="rect">
            <a:avLst/>
          </a:prstGeom>
          <a:solidFill>
            <a:srgbClr val="D4D4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6537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62C"/>
                </a:solidFill>
              </a:defRPr>
            </a:pPr>
            <a: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5379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036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</a:defRPr>
            </a:pPr>
            <a:r>
              <a:t>惯导智衡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0D0F0"/>
                </a:solidFill>
              </a:defRPr>
            </a:pPr>
            <a:r>
              <a:t>MinerU 赛道二 Data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474720"/>
            <a:ext cx="8229600" cy="27432"/>
          </a:xfrm>
          <a:prstGeom prst="rect">
            <a:avLst/>
          </a:prstGeom>
          <a:solidFill>
            <a:srgbClr val="3A60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3840480"/>
            <a:ext cx="640080" cy="64008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840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1F3D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文档理解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983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0C0FF"/>
                </a:solidFill>
              </a:defRPr>
            </a:pPr>
            <a:r>
              <a:t>真正RAG，28,741 chunks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3840480"/>
            <a:ext cx="640080" cy="64008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3840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1F3D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45720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Agent执行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4983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0C0FF"/>
                </a:solidFill>
              </a:defRPr>
            </a:pPr>
            <a:r>
              <a:t>ReAct + CoT，异步执行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3840480"/>
            <a:ext cx="640080" cy="64008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3840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1F3D"/>
                </a:solidFill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5720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开源部署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983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0C0FF"/>
                </a:solidFill>
              </a:defRPr>
            </a:pPr>
            <a:r>
              <a:t>GitHub公开，systemd守护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760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B0D0"/>
                </a:solidFill>
              </a:defRPr>
            </a:pPr>
            <a:r>
              <a:t>github.com/insruler/MinerU-Track2-Agent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6126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B0D0"/>
                </a:solidFill>
              </a:defRPr>
            </a:pPr>
            <a:r>
              <a:t>49.232.174.229:7883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92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080A0"/>
                </a:solidFill>
              </a:defRPr>
            </a:pPr>
            <a:r>
              <a:t>12/12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92240"/>
            <a:ext cx="12188952" cy="18288"/>
          </a:xfrm>
          <a:prstGeom prst="rect">
            <a:avLst/>
          </a:prstGeom>
          <a:solidFill>
            <a:srgbClr val="3A60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