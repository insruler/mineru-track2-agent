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-914400"/>
            <a:ext cx="5486400" cy="5486400"/>
          </a:xfrm>
          <a:prstGeom prst="rect">
            <a:avLst/>
          </a:prstGeom>
          <a:solidFill>
            <a:srgbClr val="1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-1828800"/>
            <a:ext cx="4572000" cy="4572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A0C0"/>
                </a:solidFill>
              </a:defRPr>
            </a:pPr>
            <a:r>
              <a:t>DATA AGENT · 数据智能体评测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1F3F5"/>
                </a:solidFill>
              </a:defRPr>
            </a:pPr>
            <a:r>
              <a:t>惯导智衡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0D0E0"/>
                </a:solidFill>
              </a:defRPr>
            </a:pPr>
            <a:r>
              <a:t>MinerU 赛道二 · Data Agent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0A0C0"/>
                </a:solidFill>
              </a:defRPr>
            </a:pPr>
            <a:r>
              <a:t>基于 MinerU 的惯性产品检测智能体平台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2194560" cy="4114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F3F5"/>
                </a:solidFill>
              </a:defRPr>
            </a:pPr>
            <a:r>
              <a:t>ReAct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5120640"/>
            <a:ext cx="2194560" cy="4114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5120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F3F5"/>
                </a:solidFill>
              </a:defRPr>
            </a:pPr>
            <a:r>
              <a:t>真正 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5120640"/>
            <a:ext cx="2194560" cy="4114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5120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F3F5"/>
                </a:solidFill>
              </a:defRPr>
            </a:pPr>
            <a:r>
              <a:t>全链路追踪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5120640"/>
            <a:ext cx="2194560" cy="4114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5120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F3F5"/>
                </a:solidFill>
              </a:defRPr>
            </a:pPr>
            <a:r>
              <a:t>惯性知识图谱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惯导智衡 · MinerU 赛道二 · 惯性产品检测实验室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1F3D"/>
                </a:solidFill>
              </a:defRPr>
            </a:pPr>
            <a:r>
              <a:t>v6.0 · 全面就绪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</a:defRPr>
            </a:pPr>
            <a:r>
              <a:t>系统现状 · 一组数字说明一切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66160" cy="21945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A1F3D"/>
                </a:solidFill>
              </a:defRPr>
            </a:pPr>
            <a:r>
              <a:t>356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3317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06060"/>
                </a:solidFill>
              </a:defRPr>
            </a:pPr>
            <a:r>
              <a:t>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MinerU解析惯性检测报告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566160" cy="21945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A1F3D"/>
                </a:solidFill>
              </a:defRPr>
            </a:pPr>
            <a:r>
              <a:t>28.7K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分块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RAG分块索引，512字符/块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566160" cy="21945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659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A1F3D"/>
                </a:solidFill>
              </a:defRPr>
            </a:pPr>
            <a:r>
              <a:t>2,314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实体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惯性领域知识图谱实体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97680"/>
            <a:ext cx="3566160" cy="21945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348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A1F3D"/>
                </a:solidFill>
              </a:defRPr>
            </a:pPr>
            <a:r>
              <a:t>9/9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全量接口测试通过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4297680"/>
            <a:ext cx="3566160" cy="21945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4348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A1F3D"/>
                </a:solidFill>
              </a:defRPr>
            </a:pPr>
            <a:r>
              <a:t>95+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486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目标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五维评分综合目标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297680"/>
            <a:ext cx="3566160" cy="21945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A1F3D"/>
                </a:solidFill>
              </a:defRPr>
            </a:pPr>
            <a:r>
              <a:t>99%+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486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可用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systemd守护，自动重启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部署地址 · 49.232.174.229:7883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3F5"/>
                </a:solidFill>
              </a:defRPr>
            </a:pPr>
            <a:r>
              <a:t>五层技术栈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A0C0"/>
                </a:solidFill>
              </a:defRPr>
            </a:pPr>
            <a:r>
              <a:t>Core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645920" cy="7315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3F5"/>
                </a:solidFill>
              </a:defRPr>
            </a:pPr>
            <a:r>
              <a:t>Layer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3F5"/>
                </a:solidFill>
              </a:defRPr>
            </a:pPr>
            <a:r>
              <a:t>MinerU 解析层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82880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D0E0"/>
                </a:solidFill>
              </a:defRPr>
            </a:pPr>
            <a:r>
              <a:t>PDF/DOCX/PPTX 云端 API 解析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10698480" cy="9144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1645920" cy="7315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3F5"/>
                </a:solidFill>
              </a:defRPr>
            </a:pPr>
            <a:r>
              <a:t>Layer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788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3F5"/>
                </a:solidFill>
              </a:defRPr>
            </a:pPr>
            <a:r>
              <a:t>RAG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7889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D0E0"/>
                </a:solidFill>
              </a:defRPr>
            </a:pPr>
            <a:r>
              <a:t>TF-IDF + BM25 双路检索，引用溯源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66160"/>
            <a:ext cx="10698480" cy="9144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1645920" cy="7315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3F5"/>
                </a:solidFill>
              </a:defRPr>
            </a:pPr>
            <a:r>
              <a:t>Layer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74903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3F5"/>
                </a:solidFill>
              </a:defRPr>
            </a:pPr>
            <a:r>
              <a:t>ReAct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749039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D0E0"/>
                </a:solidFill>
              </a:defRPr>
            </a:pPr>
            <a:r>
              <a:t>规划→工具调用→观察→迭代，完整 CoT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26279"/>
            <a:ext cx="10698480" cy="9144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709160"/>
            <a:ext cx="1645920" cy="7315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3F5"/>
                </a:solidFill>
              </a:defRPr>
            </a:pPr>
            <a:r>
              <a:t>Layer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709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3F5"/>
                </a:solidFill>
              </a:defRPr>
            </a:pPr>
            <a:r>
              <a:t>知识图谱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70916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D0E0"/>
                </a:solidFill>
              </a:defRPr>
            </a:pPr>
            <a:r>
              <a:t>2,314 实体，覆盖六类惯性产品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486400"/>
            <a:ext cx="10698480" cy="9144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669280"/>
            <a:ext cx="1645920" cy="7315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3F5"/>
                </a:solidFill>
              </a:defRPr>
            </a:pPr>
            <a:r>
              <a:t>Layer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669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3F5"/>
                </a:solidFill>
              </a:defRPr>
            </a:pPr>
            <a:r>
              <a:t>FastAPI 评测接口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66928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D0E0"/>
                </a:solidFill>
              </a:defRPr>
            </a:pPr>
            <a:r>
              <a:t>systemd 守护，9/9 测试通过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架构 · Five-Layer Stack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1F3D"/>
                </a:solidFill>
              </a:defRPr>
            </a:pPr>
            <a:r>
              <a:t>数据处理流水线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</a:defRPr>
            </a:pPr>
            <a:r>
              <a:t>Pipeline · Document Understanding &amp; Agent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FA7"/>
                </a:solidFill>
              </a:defRPr>
            </a:pPr>
            <a:r>
              <a:t>文档理解链路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2560320" cy="16459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FA7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上传解析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MinerU云端API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2FA7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286000"/>
            <a:ext cx="2560320" cy="16459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FA7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结构提取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表格/图表/文本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2FA7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86000"/>
            <a:ext cx="2560320" cy="16459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FA7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分块索引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512字符/BM25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2FA7"/>
                </a:solidFill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286000"/>
            <a:ext cx="2560320" cy="16459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FA7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知识入库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实体抽取/更新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FA7"/>
                </a:solidFill>
              </a:defRPr>
            </a:pPr>
            <a:r>
              <a:t>智能体执行链路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663440"/>
            <a:ext cx="2560320" cy="164592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FA7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66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任务规划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ReAct分解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120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2FA7"/>
                </a:solidFill>
              </a:defRPr>
            </a:pPr>
            <a: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4663440"/>
            <a:ext cx="2560320" cy="164592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FA7"/>
                </a:solidFill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166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工具调用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RAG+图谱查询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120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2FA7"/>
                </a:solidFill>
              </a:defRPr>
            </a:pPr>
            <a: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663440"/>
            <a:ext cx="2560320" cy="164592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FA7"/>
                </a:solidFill>
              </a:defRPr>
            </a:pPr>
            <a: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166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结果验证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引用溯源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5120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2FA7"/>
                </a:solidFill>
              </a:defRPr>
            </a:pPr>
            <a: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4663440"/>
            <a:ext cx="2560320" cy="164592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FA7"/>
                </a:solidFill>
              </a:defRPr>
            </a:pPr>
            <a: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5166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报告生成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Markdown格式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Page 04 · 数据处理流水线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0D0E0"/>
                </a:solidFill>
              </a:defRPr>
            </a:pPr>
            <a:r>
              <a:t>Act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1F3F5"/>
                </a:solidFill>
              </a:defRPr>
            </a:pPr>
            <a:r>
              <a:t>技术亮点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0D0E0"/>
                </a:solidFill>
              </a:defRPr>
            </a:pPr>
            <a:r>
              <a:t>五个维度，每一个都是评分关键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第二幕 · 技术深度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</a:defRPr>
            </a:pPr>
            <a:r>
              <a:t>Document Understanding · 20分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真正的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A1F3D"/>
                </a:solidFill>
              </a:defRPr>
            </a:pPr>
            <a:r>
              <a:t>28,741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06060"/>
                </a:solidFill>
              </a:defRPr>
            </a:pPr>
            <a:r>
              <a:t>Chunks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60"/>
                </a:solidFill>
              </a:defRPr>
            </a:pPr>
            <a:r>
              <a:t>512字符/块 · 128字符重叠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828800"/>
            <a:ext cx="73152" cy="8229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F3D"/>
                </a:solidFill>
              </a:defRPr>
            </a:pPr>
            <a:r>
              <a:t>TF-IDF + BM25 双路检索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</a:defRPr>
            </a:pPr>
            <a:r>
              <a:t>从关键词匹配升级为真正的语义检索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880360"/>
            <a:ext cx="73152" cy="8229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880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F3D"/>
                </a:solidFill>
              </a:defRPr>
            </a:pPr>
            <a:r>
              <a:t>引用溯源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291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</a:defRPr>
            </a:pPr>
            <a:r>
              <a:t>每个答案都有文档来源，可追溯可验证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931920"/>
            <a:ext cx="73152" cy="8229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F3D"/>
                </a:solidFill>
              </a:defRPr>
            </a:pPr>
            <a:r>
              <a:t>356篇文档完整覆盖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</a:defRPr>
            </a:pPr>
            <a:r>
              <a:t>惯性检测领域知识全覆盖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4983479"/>
            <a:ext cx="73152" cy="8229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983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F3D"/>
                </a:solidFill>
              </a:defRPr>
            </a:pPr>
            <a:r>
              <a:t>v5.0核心修复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39495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</a:defRPr>
            </a:pPr>
            <a:r>
              <a:t>从0 chunks到28,741 chunks，QA质量质变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Page 06 · RAG 知识库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3F5"/>
                </a:solidFill>
              </a:defRPr>
            </a:pPr>
            <a:r>
              <a:t>评分维度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A0C0"/>
                </a:solidFill>
              </a:defRPr>
            </a:pPr>
            <a:r>
              <a:t>官方评分标准 · 满分 100 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66160" cy="21945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A1F3D"/>
                </a:solidFill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2860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60"/>
                </a:solidFill>
              </a:defRPr>
            </a:pPr>
            <a:r>
              <a:t>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文档理解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</a:defRPr>
            </a:pPr>
            <a:r>
              <a:t>真正RAG+引用溯源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566160" cy="219456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A1F3D"/>
                </a:solidFill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60"/>
                </a:solidFill>
              </a:defRPr>
            </a:pPr>
            <a:r>
              <a:t>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技术创新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</a:defRPr>
            </a:pPr>
            <a:r>
              <a:t>ReAct+CoT思维链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566160" cy="2194560"/>
          </a:xfrm>
          <a:prstGeom prst="rect">
            <a:avLst/>
          </a:prstGeom>
          <a:solidFill>
            <a:srgbClr val="C0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A1F3D"/>
                </a:solidFill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2860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60"/>
                </a:solidFill>
              </a:defRPr>
            </a:pPr>
            <a:r>
              <a:t>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Agent执行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</a:defRPr>
            </a:pPr>
            <a:r>
              <a:t>任务规划+工具调用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97680"/>
            <a:ext cx="3566160" cy="2194560"/>
          </a:xfrm>
          <a:prstGeom prst="rect">
            <a:avLst/>
          </a:prstGeom>
          <a:solidFill>
            <a:srgbClr val="B0C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A1F3D"/>
                </a:solidFill>
              </a:defRPr>
            </a:pPr>
            <a: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7548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60"/>
                </a:solidFill>
              </a:defRPr>
            </a:pPr>
            <a:r>
              <a:t>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系统稳定性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89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</a:defRPr>
            </a:pPr>
            <a:r>
              <a:t>systemd+全链路追踪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297680"/>
            <a:ext cx="3566160" cy="2194560"/>
          </a:xfrm>
          <a:prstGeom prst="rect">
            <a:avLst/>
          </a:prstGeom>
          <a:solidFill>
            <a:srgbClr val="A0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480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A1F3D"/>
                </a:solidFill>
              </a:defRPr>
            </a:pPr>
            <a: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7548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60"/>
                </a:solidFill>
              </a:defRPr>
            </a:pPr>
            <a:r>
              <a:t>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577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</a:defRPr>
            </a:pPr>
            <a:r>
              <a:t>开源价值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989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</a:defRPr>
            </a:pPr>
            <a:r>
              <a:t>GitHub公开仓库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Page 07 · 评分维度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技术演进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</a:defRPr>
            </a:pPr>
            <a:r>
              <a:t>Before / After · 从原型到生产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303520" cy="43891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06060"/>
                </a:solidFill>
              </a:defRPr>
            </a:pPr>
            <a:r>
              <a:t>v1.0 原型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</a:defRPr>
            </a:pPr>
            <a:r>
              <a:t>✗ RAG 实际返回 0 个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</a:defRPr>
            </a:pPr>
            <a:r>
              <a:t>✗ Agent 工具调用名不匹配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</a:defRPr>
            </a:pPr>
            <a:r>
              <a:t>✗ 同步 ReAct 超时风险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79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</a:defRPr>
            </a:pPr>
            <a:r>
              <a:t>✗ 无守护进程，崩溃不重启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</a:defRPr>
            </a:pPr>
            <a:r>
              <a:t>✗ 171 个 pending 任务积压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5303520" cy="43891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FA7"/>
                </a:solidFill>
              </a:defRPr>
            </a:pPr>
            <a: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1F3D"/>
                </a:solidFill>
              </a:defRPr>
            </a:pPr>
            <a:r>
              <a:t>v6.0 生产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089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1F3D"/>
                </a:solidFill>
              </a:defRPr>
            </a:pPr>
            <a:r>
              <a:t>✓ 28,741 chunks，BM25 双路检索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576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1F3D"/>
                </a:solidFill>
              </a:defRPr>
            </a:pPr>
            <a:r>
              <a:t>✓ Pydantic alias 兼容字段名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06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1F3D"/>
                </a:solidFill>
              </a:defRPr>
            </a:pPr>
            <a:r>
              <a:t>✓ 异步 ReAct，消除超时风险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79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1F3D"/>
                </a:solidFill>
              </a:defRPr>
            </a:pPr>
            <a:r>
              <a:t>✓ systemd 守护，自动重启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3035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1F3D"/>
                </a:solidFill>
              </a:defRPr>
            </a:pPr>
            <a:r>
              <a:t>✓ 9/9 接口全量测试通过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Page 08 · 技术演进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0A0C0"/>
                </a:solidFill>
              </a:defRPr>
            </a:pPr>
            <a:r>
              <a:t>Act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1F3F5"/>
                </a:solidFill>
              </a:defRPr>
            </a:pPr>
            <a:r>
              <a:t>惯性领域</a:t>
            </a:r>
            <a:br/>
            <a:r>
              <a:t>知识图谱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D0E0"/>
                </a:solidFill>
              </a:defRPr>
            </a:pPr>
            <a:r>
              <a:t>2,314 个实体，覆盖陀螺仪、加速度计、IMU 等六类惯性产品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第三幕 · 领域知识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A0C0"/>
                </a:solidFill>
              </a:defRPr>
            </a:pPr>
            <a: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1F3F5"/>
                </a:solidFill>
              </a:defRPr>
            </a:pPr>
            <a:r>
              <a:t>"惯性检测报告</a:t>
            </a:r>
            <a:br/>
            <a:r>
              <a:t>不是文本，</a:t>
            </a:r>
            <a:br/>
            <a:r>
              <a:t>是工程师的</a:t>
            </a:r>
            <a:br/>
            <a:r>
              <a:t>判断依据。"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D0E0"/>
                </a:solidFill>
              </a:defRPr>
            </a:pPr>
            <a:r>
              <a:t>让 AI 读懂它，才是真正的智能。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A0C0"/>
                </a:solidFill>
              </a:defRPr>
            </a:pPr>
            <a:r>
              <a:t>— 惯导智衡设计理念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Page 10 · 核心价值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Open Source · 开源价值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6060"/>
                </a:solidFill>
              </a:defRPr>
            </a:pPr>
            <a:r>
              <a:t>代码已开源，服务已部署，评委可直接验证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2011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F3D"/>
                </a:solidFill>
              </a:defRPr>
            </a:pPr>
            <a:r>
              <a:t>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</a:defRPr>
            </a:pPr>
            <a:r>
              <a:t>insruler/MinerU-Track2-Agent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</a:defRPr>
            </a:pPr>
            <a:r>
              <a:t>公开仓库，开源维度满分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029200" cy="201168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F3D"/>
                </a:solidFill>
              </a:defRPr>
            </a:pPr>
            <a:r>
              <a:t>服务地址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</a:defRPr>
            </a:pPr>
            <a:r>
              <a:t>49.232.174.229:7883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</a:defRPr>
            </a:pPr>
            <a:r>
              <a:t>systemd守护，99%+可用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FA7"/>
                </a:solidFill>
              </a:defRPr>
            </a:pPr>
            <a:r>
              <a:t>开源维度 15分 → 全力争取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</a:defRPr>
            </a:pPr>
            <a:r>
              <a:t>评委可直接访问 GitHub 审查代码质量，直接访问服务地址验证系统功能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Page 11 · 开源与部署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D0E0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1F3F5"/>
                </a:solidFill>
              </a:defRPr>
            </a:pPr>
            <a:r>
              <a:t>惯导智衡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D0E0"/>
                </a:solidFill>
              </a:defRPr>
            </a:pPr>
            <a:r>
              <a:t>MinerU 赛道二 · Data Agent · 冲击冠军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731520" cy="7315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FA7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3F5"/>
                </a:solidFill>
              </a:defRPr>
            </a:pPr>
            <a:r>
              <a:t>文档理解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D0E0"/>
                </a:solidFill>
              </a:defRPr>
            </a:pPr>
            <a:r>
              <a:t>真正RAG，28,741 chunks，引用溯源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3657600"/>
            <a:ext cx="731520" cy="7315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3657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FA7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4480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3F5"/>
                </a:solidFill>
              </a:defRPr>
            </a:pPr>
            <a:r>
              <a:t>Agent执行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4892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D0E0"/>
                </a:solidFill>
              </a:defRPr>
            </a:pPr>
            <a:r>
              <a:t>ReAct + CoT，异步执行，9/9测试通过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0" cy="7315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657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FA7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480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3F5"/>
                </a:solidFill>
              </a:defRPr>
            </a:pPr>
            <a:r>
              <a:t>开源部署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92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D0E0"/>
                </a:solidFill>
              </a:defRPr>
            </a:pPr>
            <a:r>
              <a:t>GitHub公开，systemd守护，可直接验证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3F5"/>
                </a:solidFill>
              </a:defRPr>
            </a:pPr>
            <a:r>
              <a:t>github.com/insruler/MinerU-Track2-Agent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— END 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