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0972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C0C0FF"/>
                </a:solidFill>
              </a:defRPr>
            </a:pPr>
            <a:r>
              <a:t>MinerU Track II · Data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9319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D0"/>
                </a:solidFill>
              </a:defRPr>
            </a:pPr>
            <a:r>
              <a:t>基于 MinerU 的惯性产品检测智能体平台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4754880"/>
            <a:ext cx="9144000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0C0FF"/>
                </a:solidFill>
              </a:defRPr>
            </a:pPr>
            <a:r>
              <a:t>惯性产品检测实验室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3949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D0"/>
                </a:solidFill>
              </a:defRPr>
            </a:pPr>
            <a:r>
              <a:t>insruler / MinerU-Track2-Agent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457200"/>
            <a:ext cx="731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D0"/>
                </a:solidFill>
              </a:defRPr>
            </a:pPr>
            <a:r>
              <a:t>01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0A0A0A"/>
                </a:solidFill>
              </a:defRPr>
            </a:pPr>
            <a:r>
              <a:t>v6.0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全面就绪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系统现状 · 一组数字说明一切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74320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356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MinerU解析惯性检测报告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274320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2880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28.7K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Chunks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RAG分块索引，512字符/块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274320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2880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2,314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65760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Entities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02336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惯性领域知识图谱实体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75488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9/9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API Tests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全量接口测试通过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480559" y="475488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63439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95+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39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Score Target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39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五维评分综合目标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4754880"/>
            <a:ext cx="3474720" cy="1828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0" y="48920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A0A0A"/>
                </a:solidFill>
              </a:defRPr>
            </a:pPr>
            <a:r>
              <a:t>99%+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56692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2FA7"/>
                </a:solidFill>
              </a:defRPr>
            </a:pPr>
            <a:r>
              <a:t>Uptime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603504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systemd守护，自动重启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49.232.174.229:7883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五层技术栈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Core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920240"/>
            <a:ext cx="54864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9202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MinerU 解析层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9202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PDF/DOCX/PPTX 云端 API 解析，结构化提取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2697480"/>
            <a:ext cx="100584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2834640"/>
            <a:ext cx="54864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8346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RAG 知识库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8346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TF-IDF + BM25 双路检索，引用溯源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97280" y="3611880"/>
            <a:ext cx="100584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97280" y="3749039"/>
            <a:ext cx="54864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7490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ReAct Agent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3749039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规划→工具调用→观察→迭代，完整 CoT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4526279"/>
            <a:ext cx="100584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97280" y="4663440"/>
            <a:ext cx="54864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663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46634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知识图谱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6634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2,314 实体，覆盖六类惯性产品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97280" y="5440680"/>
            <a:ext cx="10058400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97280" y="5577840"/>
            <a:ext cx="548640" cy="54864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557784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A0A0A"/>
                </a:solidFill>
              </a:defRPr>
            </a:pPr>
            <a:r>
              <a:t>FastAPI 评测接口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5577840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systemd 守护，9/9 测试通过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Architecture · Five-Layer Stack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数据处理流水线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37373"/>
                </a:solidFill>
              </a:defRPr>
            </a:pPr>
            <a:r>
              <a:t>Pipeline · Document Understanding &amp; Agent Execution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8288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</a:defRPr>
            </a:pPr>
            <a:r>
              <a:t>文档理解链路</a:t>
            </a:r>
          </a:p>
        </p:txBody>
      </p:sp>
      <p:sp>
        <p:nvSpPr>
          <p:cNvPr id="5" name="Rectangle 4"/>
          <p:cNvSpPr/>
          <p:nvPr/>
        </p:nvSpPr>
        <p:spPr>
          <a:xfrm>
            <a:off x="1097280" y="228600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上传解析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MinerU云端API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3749039" y="228600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结构提取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表格/图表/文本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228600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分块索引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512字符/BM25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52559" y="228600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23317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278892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知识入库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2004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实体抽取/更新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06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2FA7"/>
                </a:solidFill>
              </a:defRPr>
            </a:pPr>
            <a:r>
              <a:t>智能体执行链路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97280" y="466344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任务规划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ReAct分解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749039" y="466344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749039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49039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工具调用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49039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RAG+图谱查询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466344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结果验证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引用溯源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052559" y="4663440"/>
            <a:ext cx="2286000" cy="16459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052559" y="47091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02FA7"/>
                </a:solidFill>
              </a:defRPr>
            </a:pPr>
            <a:r>
              <a:t>08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59" y="51663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报告生成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59" y="557784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Markdown格式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Pipeline · Data Processing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技术亮点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0FF"/>
                </a:solidFill>
              </a:defRPr>
            </a:pPr>
            <a:r>
              <a:t>五个维度，每一个都是评分关键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D0"/>
                </a:solidFill>
              </a:defRPr>
            </a:pPr>
            <a:r>
              <a:t>Act II · Technical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D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Document Understanding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真正的 RAG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1828800"/>
            <a:ext cx="4114800" cy="411480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2011680"/>
            <a:ext cx="4114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0A0A0A"/>
                </a:solidFill>
              </a:defRPr>
            </a:pPr>
            <a:r>
              <a:t>28,741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6576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002FA7"/>
                </a:solidFill>
              </a:defRPr>
            </a:pPr>
            <a:r>
              <a:t>Chunks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297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737373"/>
                </a:solidFill>
              </a:defRPr>
            </a:pPr>
            <a:r>
              <a:t>512字符/块 · 128字符重叠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1828800"/>
            <a:ext cx="54864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0" y="182880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TF-IDF + BM25 双路检索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224028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从关键词匹配升级为真正的语义检索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0" y="2880360"/>
            <a:ext cx="54864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0" y="288036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引用溯源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329184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每个答案都有文档来源，可追溯可验证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0" y="3931920"/>
            <a:ext cx="54864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931920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356篇文档完整覆盖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43400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惯性检测领域知识全覆盖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983479"/>
            <a:ext cx="54864" cy="822960"/>
          </a:xfrm>
          <a:prstGeom prst="rect">
            <a:avLst/>
          </a:prstGeom>
          <a:solidFill>
            <a:srgbClr val="002F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0" y="4983479"/>
            <a:ext cx="5669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A0A0A"/>
                </a:solidFill>
              </a:defRPr>
            </a:pPr>
            <a:r>
              <a:t>v5.0核心修复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0" y="5394959"/>
            <a:ext cx="5669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从0 chunks到28,741 chunks，QA质量质变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Document Understanding · 20分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评分维度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官方评分标准 · 满分 100 分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347472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2FA7"/>
                </a:solidFill>
              </a:defRPr>
            </a:pPr>
            <a: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34640" y="2148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文档理解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真正RAG+引用溯源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59" y="1828800"/>
            <a:ext cx="347472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2FA7"/>
                </a:solidFill>
              </a:defRPr>
            </a:pPr>
            <a:r>
              <a:t>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79" y="2148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39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技术创新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39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ReAct+CoT思维链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0" y="1828800"/>
            <a:ext cx="347472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96596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2FA7"/>
                </a:solidFill>
              </a:defRPr>
            </a:pPr>
            <a: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32720" y="214884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Agent执行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0" y="34290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任务规划+工具调用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4297680"/>
            <a:ext cx="347472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434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2FA7"/>
                </a:solidFill>
              </a:defRPr>
            </a:pPr>
            <a:r>
              <a:t>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4617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86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系统稳定性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systemd+全链路追踪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4297680"/>
            <a:ext cx="3474720" cy="219456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663439" y="443484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002FA7"/>
                </a:solidFill>
              </a:defRPr>
            </a:pPr>
            <a:r>
              <a:t>15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79" y="4617720"/>
            <a:ext cx="914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39" y="548640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A0A0A"/>
                </a:solidFill>
              </a:defRPr>
            </a:pPr>
            <a:r>
              <a:t>开源价值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39" y="5897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737373"/>
                </a:solidFill>
              </a:defRPr>
            </a:pPr>
            <a:r>
              <a:t>GitHub公开仓库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Scoring Dimensions · 100分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技术演进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737373"/>
                </a:solidFill>
              </a:defRPr>
            </a:pPr>
            <a:r>
              <a:t>Before / After · 从原型到生产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029200" cy="4389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BEFORE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808080"/>
                </a:solidFill>
              </a:defRPr>
            </a:pPr>
            <a:r>
              <a:t>v1.0 原型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✗ RAG 实际返回 0 个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6576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✗ Agent 工具调用名不匹配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2062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✗ 同步 ReAct 超时风险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7548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✗ 无守护进程，崩溃不重启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03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08080"/>
                </a:solidFill>
              </a:defRPr>
            </a:pPr>
            <a:r>
              <a:t>✗ 171 个 pending 任务积压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828800"/>
            <a:ext cx="5029200" cy="438912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002FA7"/>
                </a:solidFill>
              </a:defRPr>
            </a:pPr>
            <a:r>
              <a:t>AFTER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286000"/>
            <a:ext cx="4663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A0A0A"/>
                </a:solidFill>
              </a:defRPr>
            </a:pPr>
            <a:r>
              <a:t>v6.0 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089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</a:defRPr>
            </a:pPr>
            <a:r>
              <a:t>✓ 28,741 chunks，BM25 双路检索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65760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</a:defRPr>
            </a:pPr>
            <a:r>
              <a:t>✓ Pydantic alias 兼容字段名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2062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</a:defRPr>
            </a:pPr>
            <a:r>
              <a:t>✓ 异步 ReAct，消除超时风险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754879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</a:defRPr>
            </a:pPr>
            <a:r>
              <a:t>✓ systemd 守护，自动重启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530352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A0A0A"/>
                </a:solidFill>
              </a:defRPr>
            </a:pPr>
            <a:r>
              <a:t>✓ 9/9 接口全量测试通过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Technical Evolution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1828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惯性领域</a:t>
            </a:r>
            <a:br/>
            <a:r>
              <a:t>知识图谱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754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0C0FF"/>
                </a:solidFill>
              </a:defRPr>
            </a:pPr>
            <a:r>
              <a:t>2,314 个实体，覆盖陀螺仪、加速度计、IMU 等六类惯性产品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D0"/>
                </a:solidFill>
              </a:defRPr>
            </a:pPr>
            <a:r>
              <a:t>Knowledge Graph · 2,314 Entities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D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1371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08080"/>
                </a:solidFill>
              </a:defRPr>
            </a:pPr>
            <a:r>
              <a:t>The Insight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03120"/>
            <a:ext cx="9144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>
                <a:solidFill>
                  <a:srgbClr val="FFFFFF"/>
                </a:solidFill>
              </a:defRPr>
            </a:pPr>
            <a:r>
              <a:t>"惯性检测报告</a:t>
            </a:r>
            <a:br/>
            <a:r>
              <a:t>不是文本，</a:t>
            </a:r>
            <a:br/>
            <a:r>
              <a:t>是工程师的</a:t>
            </a:r>
            <a:br/>
            <a:r>
              <a:t>判断依据。"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53035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0C0C0"/>
                </a:solidFill>
              </a:defRPr>
            </a:pPr>
            <a:r>
              <a:t>让 AI 读懂它，才是真正的智能。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808080"/>
                </a:solidFill>
              </a:defRPr>
            </a:pPr>
            <a:r>
              <a:t>— 惯导智衡设计理念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Core Value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4572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2FA7"/>
                </a:solidFill>
              </a:defRPr>
            </a:pPr>
            <a:r>
              <a:t>Open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9144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A0A0A"/>
                </a:solidFill>
              </a:defRPr>
            </a:pPr>
            <a:r>
              <a:t>开源与部署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645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737373"/>
                </a:solidFill>
              </a:defRPr>
            </a:pPr>
            <a:r>
              <a:t>代码已开源，服务已部署，评委可直接验证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103120"/>
            <a:ext cx="5029200" cy="20116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</a:defRPr>
            </a:pPr>
            <a:r>
              <a:t>GitHub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2FA7"/>
                </a:solidFill>
              </a:defRPr>
            </a:pPr>
            <a:r>
              <a:t>insruler / MinerU-Track2-Agent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公开仓库，开源维度满分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2103120"/>
            <a:ext cx="5029200" cy="2011680"/>
          </a:xfrm>
          <a:prstGeom prst="rect">
            <a:avLst/>
          </a:prstGeom>
          <a:solidFill>
            <a:srgbClr val="F0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2860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A0A0A"/>
                </a:solidFill>
              </a:defRPr>
            </a:pPr>
            <a:r>
              <a:t>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0175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002FA7"/>
                </a:solidFill>
              </a:defRPr>
            </a:pPr>
            <a:r>
              <a:t>49.232.174.229:7883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747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systemd守护，99%+可用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805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02FA7"/>
                </a:solidFill>
              </a:defRPr>
            </a:pPr>
            <a:r>
              <a:t>开源维度 15分 → 全力争取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2120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737373"/>
                </a:solidFill>
              </a:defRPr>
            </a:pPr>
            <a:r>
              <a:t>评委可直接访问 GitHub 审查代码，直接访问服务地址验证系统功能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D4D4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65379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737373"/>
                </a:solidFill>
              </a:defRPr>
            </a:pPr>
            <a:r>
              <a:t>Open Source &amp;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7373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FA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97280" y="91440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</a:defRPr>
            </a:pPr>
            <a:r>
              <a:t>惯导智衡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651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0FF"/>
                </a:solidFill>
              </a:defRPr>
            </a:pPr>
            <a:r>
              <a:t>MinerU 赛道二 · Data Agent · 冲击冠军</a:t>
            </a:r>
          </a:p>
        </p:txBody>
      </p:sp>
      <p:sp>
        <p:nvSpPr>
          <p:cNvPr id="4" name="Rectangle 3"/>
          <p:cNvSpPr/>
          <p:nvPr/>
        </p:nvSpPr>
        <p:spPr>
          <a:xfrm>
            <a:off x="1097280" y="3474720"/>
            <a:ext cx="8229600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FA7"/>
                </a:solidFill>
              </a:defRPr>
            </a:pPr>
            <a: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文档理解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真正RAG，28,741 chunks，引用溯源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FA7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Agent执行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ReAct + CoT，异步执行，9/9测试通过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38404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002FA7"/>
                </a:solidFill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5720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</a:defRPr>
            </a:pPr>
            <a:r>
              <a:t>开源部署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983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C0C0FF"/>
                </a:solidFill>
              </a:defRPr>
            </a:pPr>
            <a:r>
              <a:t>GitHub公开，systemd守护，可直接验证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github.com/insruler/MinerU-Track2-Agent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0050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653796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D0"/>
                </a:solidFill>
              </a:defRPr>
            </a:pPr>
            <a:r>
              <a:t>— END 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537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A0A0D0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