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0" b="1">
                <a:solidFill>
                  <a:srgbClr val="FFFFFF"/>
                </a:solidFill>
              </a:defRPr>
            </a:pPr>
            <a:r>
              <a:t>惯导智衡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B0D8"/>
                </a:solidFill>
              </a:defRPr>
            </a:pPr>
            <a:r>
              <a:t>MinerU 2026 . Track II . Data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108960"/>
            <a:ext cx="1828800" cy="411480"/>
          </a:xfrm>
          <a:prstGeom prst="rect">
            <a:avLst/>
          </a:prstGeom>
          <a:solidFill>
            <a:srgbClr val="1A3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D0F0"/>
                </a:solidFill>
              </a:defRPr>
            </a:pPr>
            <a:r>
              <a:t>PDF智能解析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3108960"/>
            <a:ext cx="1828800" cy="411480"/>
          </a:xfrm>
          <a:prstGeom prst="rect">
            <a:avLst/>
          </a:prstGeom>
          <a:solidFill>
            <a:srgbClr val="1A3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D0F0"/>
                </a:solidFill>
              </a:defRPr>
            </a:pPr>
            <a:r>
              <a:t>RAG检索增强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3108960"/>
            <a:ext cx="1828800" cy="411480"/>
          </a:xfrm>
          <a:prstGeom prst="rect">
            <a:avLst/>
          </a:prstGeom>
          <a:solidFill>
            <a:srgbClr val="1A3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D0F0"/>
                </a:solidFill>
              </a:defRPr>
            </a:pPr>
            <a:r>
              <a:t>ReAct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3108960"/>
            <a:ext cx="1828800" cy="411480"/>
          </a:xfrm>
          <a:prstGeom prst="rect">
            <a:avLst/>
          </a:prstGeom>
          <a:solidFill>
            <a:srgbClr val="1A3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D0F0"/>
                </a:solidFill>
              </a:defRPr>
            </a:pPr>
            <a:r>
              <a:t>知识图谱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3108960"/>
            <a:ext cx="1828800" cy="411480"/>
          </a:xfrm>
          <a:prstGeom prst="rect">
            <a:avLst/>
          </a:prstGeom>
          <a:solidFill>
            <a:srgbClr val="1A3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D0F0"/>
                </a:solidFill>
              </a:defRPr>
            </a:pPr>
            <a:r>
              <a:t>系统截图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749039"/>
            <a:ext cx="8229600" cy="27432"/>
          </a:xfrm>
          <a:prstGeom prst="rect">
            <a:avLst/>
          </a:prstGeom>
          <a:solidFill>
            <a:srgbClr val="3A6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0E0"/>
                </a:solidFill>
              </a:defRPr>
            </a:pPr>
            <a:r>
              <a:t>惯性产品检测实验室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90B0"/>
                </a:solidFill>
              </a:defRPr>
            </a:pPr>
            <a:r>
              <a:t>北京航天控制仪器研究所惯性技术产品检测中心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90B0"/>
                </a:solidFill>
              </a:defRPr>
            </a:pPr>
            <a:r>
              <a:t>参赛队伍 .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86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0A0"/>
                </a:solidFill>
              </a:defRPr>
            </a:pPr>
            <a:r>
              <a:t>github.com/insruler/MinerU-Track2-Agent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897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0A0"/>
                </a:solidFill>
              </a:defRPr>
            </a:pPr>
            <a:r>
              <a:t>49.232.174.229:7883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080A0"/>
                </a:solidFill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1F3D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系统概述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项目背景+核心能力+知识库规模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系统架构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五层技术栈+模块关系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96312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96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MinerU解析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770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PDF解析流程+云端API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496312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496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4963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ReAct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770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执行机制+6工具+CoT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300984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009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30098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RAG检索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5753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分块策略+BM25+引用溯源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300984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3009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30098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知识图谱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5753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实体类型+D3可视化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105656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1056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10565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系统截图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3799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5大模块UI截图完整展示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105656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1056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10565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部署运维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3799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环境要求+systemd守护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910328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9103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评分维度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51846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五维评分覆盖+自测分析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910328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910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9103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开源说明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51846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GitHub+直接验证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惯导智衡 . MinerU 赛道二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系统概述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Project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303520" cy="10972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62C"/>
                </a:solidFill>
              </a:defRPr>
            </a:pPr>
            <a:r>
              <a:t>项目背景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惯性产品检测报告是工程师判断产品质量的核心依据，长期依赖人工解读。本系统基于MinerU云端API，构建面向惯性检测领域的智能Data Agent。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91640"/>
            <a:ext cx="5029200" cy="228600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知识库规模（v6.0）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31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362C"/>
                </a:solidFill>
              </a:defRPr>
            </a:pPr>
            <a:r>
              <a:t>356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已解析文档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331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362C"/>
                </a:solidFill>
              </a:defRPr>
            </a:pPr>
            <a:r>
              <a:t>28,741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RAG分块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46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362C"/>
                </a:solidFill>
              </a:defRPr>
            </a:pPr>
            <a:r>
              <a:t>2,314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749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图谱实体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3246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362C"/>
                </a:solidFill>
              </a:defRPr>
            </a:pPr>
            <a:r>
              <a:t>2,245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749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关系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160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362C"/>
                </a:solidFill>
              </a:defRPr>
            </a:pPr>
            <a:r>
              <a:t>7天+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663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稳定运行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4160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362C"/>
                </a:solidFill>
              </a:defRPr>
            </a:pPr>
            <a: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663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接口通过率</a:t>
            </a:r>
          </a:p>
        </p:txBody>
      </p:sp>
      <p:pic>
        <p:nvPicPr>
          <p:cNvPr id="24" name="Picture 23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80360"/>
            <a:ext cx="5303520" cy="33832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1520" y="6309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Dashboard: 核心指标+业务流程+快速操作</a:t>
            </a:r>
          </a:p>
        </p:txBody>
      </p:sp>
      <p:pic>
        <p:nvPicPr>
          <p:cNvPr id="26" name="Picture 25" descr="05_pa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880360"/>
            <a:ext cx="5303520" cy="33832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126480" y="6309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PDF: 拖拽上传+批量处理+任务管理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01 . 系统概述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48640" cy="749808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48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Layer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691640"/>
            <a:ext cx="1371600" cy="749808"/>
          </a:xfrm>
          <a:prstGeom prst="rect">
            <a:avLst/>
          </a:prstGeom>
          <a:solidFill>
            <a:srgbClr val="E8E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用户交互层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691640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前端 Web 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06040"/>
            <a:ext cx="548640" cy="749808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06040"/>
            <a:ext cx="548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Layer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606040"/>
            <a:ext cx="1371600" cy="749808"/>
          </a:xfrm>
          <a:prstGeom prst="rect">
            <a:avLst/>
          </a:prstGeom>
          <a:solidFill>
            <a:srgbClr val="E8E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接口服务层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606040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FastAPI（28个REST接口）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520440"/>
            <a:ext cx="548640" cy="749808"/>
          </a:xfrm>
          <a:prstGeom prst="rect">
            <a:avLst/>
          </a:prstGeom>
          <a:solidFill>
            <a:srgbClr val="1A5F9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548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Layer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3520440"/>
            <a:ext cx="1371600" cy="749808"/>
          </a:xfrm>
          <a:prstGeom prst="rect">
            <a:avLst/>
          </a:prstGeom>
          <a:solidFill>
            <a:srgbClr val="E8E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业务逻辑层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520440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ReAct+RAG+KG+MinerU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434840"/>
            <a:ext cx="548640" cy="749808"/>
          </a:xfrm>
          <a:prstGeom prst="rect">
            <a:avLst/>
          </a:prstGeom>
          <a:solidFill>
            <a:srgbClr val="2A7FB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34840"/>
            <a:ext cx="548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Layer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434840"/>
            <a:ext cx="1371600" cy="749808"/>
          </a:xfrm>
          <a:prstGeom prst="rect">
            <a:avLst/>
          </a:prstGeom>
          <a:solidFill>
            <a:srgbClr val="E8E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知识存储层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434840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SQLite+TF-IDF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349240"/>
            <a:ext cx="548640" cy="749808"/>
          </a:xfrm>
          <a:prstGeom prst="rect">
            <a:avLst/>
          </a:prstGeom>
          <a:solidFill>
            <a:srgbClr val="3A9F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49240"/>
            <a:ext cx="548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Layer 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5349240"/>
            <a:ext cx="1371600" cy="749808"/>
          </a:xfrm>
          <a:prstGeom prst="rect">
            <a:avLst/>
          </a:prstGeom>
          <a:solidFill>
            <a:srgbClr val="E8E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5394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基础能力层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5349240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MiniMax LLM+MinerU 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1691640"/>
            <a:ext cx="4389120" cy="457200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1874519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模块关系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3317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用户 -&gt; Frontend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7889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Frontend -&gt; 28 REST APIs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246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API -&gt; ReAct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37033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Agent -&gt; RAG（6工具）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1605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Agent -&gt; KG查询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46177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Agent -&gt; MinerU解析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0749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RAG/KG -&gt; SQLite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5532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MinerU -&gt; 云端API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02 . 系统架构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MinerU 云端解析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PDF Document Parsing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62C"/>
                </a:solidFill>
              </a:defRPr>
            </a:pPr>
            <a:r>
              <a:t>解析流程（6步）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148840"/>
            <a:ext cx="3931920" cy="54864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3D"/>
                </a:solidFill>
              </a:defRPr>
            </a:pPr>
            <a:r>
              <a:t>上传PDF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04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拖拽/点击上传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07208"/>
            <a:ext cx="457200" cy="45720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07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2807208"/>
            <a:ext cx="3931920" cy="54864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8072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3D"/>
                </a:solidFill>
              </a:defRPr>
            </a:pPr>
            <a:r>
              <a:t>获取预签名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63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/api/v4/file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465576"/>
            <a:ext cx="457200" cy="45720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655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3465576"/>
            <a:ext cx="3931920" cy="54864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4655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3D"/>
                </a:solidFill>
              </a:defRPr>
            </a:pPr>
            <a:r>
              <a:t>直传OSS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216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23944"/>
            <a:ext cx="457200" cy="45720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239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4123944"/>
            <a:ext cx="3931920" cy="54864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1239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3D"/>
                </a:solidFill>
              </a:defRPr>
            </a:pPr>
            <a:r>
              <a:t>提交解析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3799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/extract/task/batch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782312"/>
            <a:ext cx="457200" cy="45720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7823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80160" y="4782312"/>
            <a:ext cx="3931920" cy="54864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7823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3D"/>
                </a:solidFill>
              </a:defRPr>
            </a:pPr>
            <a:r>
              <a:t>轮询状态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0383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/status/{id}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440679"/>
            <a:ext cx="457200" cy="45720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4406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80160" y="5440679"/>
            <a:ext cx="3931920" cy="54864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54406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3D"/>
                </a:solidFill>
              </a:defRPr>
            </a:pPr>
            <a:r>
              <a:t>结果入库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69671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SQLite知识库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0" y="1691640"/>
            <a:ext cx="5943600" cy="17373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0" y="18288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API配置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2240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* Endpoint: https://mineru.net/api/v4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26243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* 认证: Bearer Token (JWT)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008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* 支持: PDF.DOCX.PPTX.XLSX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33924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* 解析: 表格.公式.图表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3776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* 已处理: 300+ PDF -&gt; 356篇文档</a:t>
            </a:r>
          </a:p>
        </p:txBody>
      </p:sp>
      <p:pic>
        <p:nvPicPr>
          <p:cNvPr id="45" name="Picture 44" descr="05_pa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520440"/>
            <a:ext cx="5943600" cy="28346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486400" y="64008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PDF: 拖拽上传+批量处理+任务管理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03 . MinerU 云端解析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ReAct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Reason-Act-Observe . Chain-of-Thought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371600" cy="11887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Reason</a:t>
            </a:r>
            <a:br/>
            <a:r>
              <a:t>推理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46888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37373"/>
                </a:solidFill>
              </a:defRPr>
            </a:pPr>
            <a: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194560"/>
            <a:ext cx="1371600" cy="118872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4688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Act</a:t>
            </a:r>
            <a:br/>
            <a:r>
              <a:t>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46888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37373"/>
                </a:solidFill>
              </a:defRPr>
            </a:pPr>
            <a: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194560"/>
            <a:ext cx="1371600" cy="1188720"/>
          </a:xfrm>
          <a:prstGeom prst="rect">
            <a:avLst/>
          </a:prstGeom>
          <a:solidFill>
            <a:srgbClr val="1A7A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24688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Observe</a:t>
            </a:r>
            <a:br/>
            <a:r>
              <a:t>观察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20440"/>
            <a:ext cx="5029200" cy="27432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73"/>
                </a:solidFill>
              </a:defRPr>
            </a:pPr>
            <a:r>
              <a:t>最多5步迭代，LLM推理决定是否继续或输出最终答案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62C"/>
                </a:solidFill>
              </a:defRPr>
            </a:pPr>
            <a:r>
              <a:t>已注册工具（6个）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80560"/>
            <a:ext cx="3474720" cy="6400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480560"/>
            <a:ext cx="73152" cy="64008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526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F3D"/>
                </a:solidFill>
              </a:defRPr>
            </a:pPr>
            <a:r>
              <a:t>search_knowledge_base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280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RAG分块检索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4480560"/>
            <a:ext cx="3474720" cy="6400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4480560"/>
            <a:ext cx="73152" cy="64008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19" y="4526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F3D"/>
                </a:solidFill>
              </a:defRPr>
            </a:pPr>
            <a:r>
              <a:t>get_kg_entities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19" y="48280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KG实体查询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4480560"/>
            <a:ext cx="3474720" cy="6400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4480560"/>
            <a:ext cx="73152" cy="64008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4526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F3D"/>
                </a:solidFill>
              </a:defRPr>
            </a:pPr>
            <a:r>
              <a:t>get_kg_relations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8280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实体关系查询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230368"/>
            <a:ext cx="3474720" cy="6400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230368"/>
            <a:ext cx="73152" cy="64008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276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F3D"/>
                </a:solidFill>
              </a:defRPr>
            </a:pPr>
            <a:r>
              <a:t>extract_structured_fields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577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结构化抽取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59" y="5230368"/>
            <a:ext cx="3474720" cy="6400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80559" y="5230368"/>
            <a:ext cx="73152" cy="64008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19" y="5276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F3D"/>
                </a:solidFill>
              </a:defRPr>
            </a:pPr>
            <a:r>
              <a:t>call_llm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19" y="5577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LLM推理调用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5230368"/>
            <a:ext cx="3474720" cy="6400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5230368"/>
            <a:ext cx="73152" cy="64008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5276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F3D"/>
                </a:solidFill>
              </a:defRPr>
            </a:pPr>
            <a:r>
              <a:t>get_stats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5577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系统统计</a:t>
            </a:r>
          </a:p>
        </p:txBody>
      </p:sp>
      <p:pic>
        <p:nvPicPr>
          <p:cNvPr id="42" name="Picture 41" descr="02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91640"/>
            <a:ext cx="5669280" cy="4114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943600" y="58521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Agent: ReAct+CoT+任务配置+执行控制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04 . ReAct 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RAG 检索增强问答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TF-IDF + BM25 Dual-Channel Retrieval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2011680" cy="128016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用户问题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56032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37373"/>
                </a:solidFill>
              </a:defRPr>
            </a:pPr>
            <a: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94560"/>
            <a:ext cx="2011680" cy="12801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331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TF-IDF向量化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73"/>
                </a:solidFill>
              </a:defRPr>
            </a:pPr>
            <a:r>
              <a:t>候选块召回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56032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37373"/>
                </a:solidFill>
              </a:defRPr>
            </a:pPr>
            <a: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2194560"/>
            <a:ext cx="2011680" cy="12801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331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BM25重排序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73"/>
                </a:solidFill>
              </a:defRPr>
            </a:pPr>
            <a:r>
              <a:t>Top-K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56032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37373"/>
                </a:solidFill>
              </a:defRPr>
            </a:pPr>
            <a: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194560"/>
            <a:ext cx="2011680" cy="12801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2331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上下文构建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73"/>
                </a:solidFill>
              </a:defRPr>
            </a:pPr>
            <a:r>
              <a:t>512字符块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56032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37373"/>
                </a:solidFill>
              </a:defRPr>
            </a:pPr>
            <a: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2194560"/>
            <a:ext cx="2011680" cy="12801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2331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LLM生成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73"/>
                </a:solidFill>
              </a:defRPr>
            </a:pPr>
            <a:r>
              <a:t>引用溯源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611880"/>
            <a:ext cx="3291840" cy="4114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657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块大小: 512字符/块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611880"/>
            <a:ext cx="3291840" cy="4114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3657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重叠: 128字符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3611880"/>
            <a:ext cx="3291840" cy="4114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3657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最小过滤: 50字符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114800"/>
            <a:ext cx="3291840" cy="4114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1605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总分块数: 28,741块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4114800"/>
            <a:ext cx="3291840" cy="4114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41605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覆盖文档: 356篇</a:t>
            </a:r>
          </a:p>
        </p:txBody>
      </p:sp>
      <p:pic>
        <p:nvPicPr>
          <p:cNvPr id="35" name="Picture 34" descr="03_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754880"/>
            <a:ext cx="5029200" cy="164592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5943600" y="1691640"/>
            <a:ext cx="5577840" cy="47548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18288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问答示例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22402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Q: 什么是标度因数？</a:t>
            </a:r>
            <a:br/>
            <a:br/>
            <a:r>
              <a:t>A: 标度因数是惯性器件输出与输入之间的比例系数，反映传感器的灵敏度特性。</a:t>
            </a:r>
            <a:br/>
            <a:br/>
            <a:r>
              <a:t>- 陀螺仪: 输入角速率与输出脉冲率的比例系数</a:t>
            </a:r>
            <a:br/>
            <a:r>
              <a:t>- 加速度计: 输入加速度与输出电信号的比例系数</a:t>
            </a:r>
            <a:br/>
            <a:br/>
            <a:r>
              <a:t>[来源: 检测报告 JCBG01 系列]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RAG: 惯性领域知识智能检索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05 . RAG 检索增强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知识图谱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Domain Knowledge Graph . D3.js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05840" cy="694944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05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器件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691640"/>
            <a:ext cx="4023360" cy="694944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陀螺仪 / 加速度计 / IMU / 惯性导航系统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96312"/>
            <a:ext cx="1005840" cy="694944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96312"/>
            <a:ext cx="1005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参数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2496312"/>
            <a:ext cx="4023360" cy="694944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63347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标度因数 / 零偏稳定性 / 随机游走 / Allan方差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00984"/>
            <a:ext cx="1005840" cy="694944"/>
          </a:xfrm>
          <a:prstGeom prst="rect">
            <a:avLst/>
          </a:prstGeom>
          <a:solidFill>
            <a:srgbClr val="1A6F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00984"/>
            <a:ext cx="1005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试验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300984"/>
            <a:ext cx="4023360" cy="694944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343814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角振动试验 / 温度循环 / 冲击振动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105656"/>
            <a:ext cx="1005840" cy="694944"/>
          </a:xfrm>
          <a:prstGeom prst="rect">
            <a:avLst/>
          </a:prstGeom>
          <a:solidFill>
            <a:srgbClr val="8A402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05656"/>
            <a:ext cx="1005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标准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4105656"/>
            <a:ext cx="4023360" cy="694944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424281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GJB系列 / QJ系列 / YT系列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910328"/>
            <a:ext cx="1005840" cy="694944"/>
          </a:xfrm>
          <a:prstGeom prst="rect">
            <a:avLst/>
          </a:prstGeom>
          <a:solidFill>
            <a:srgbClr val="5A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910328"/>
            <a:ext cx="1005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环境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4910328"/>
            <a:ext cx="4023360" cy="694944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504748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温漂 / 静电放电 / 磁场干扰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691640"/>
            <a:ext cx="5669280" cy="256032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18288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构建流程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2402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MinerU解析 -&gt; LLM实体抽取 -&gt; 关系识别 -&gt; SQLite存储 -&gt; D3可视化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2926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62C"/>
                </a:solidFill>
              </a:defRPr>
            </a:pPr>
            <a:r>
              <a:t>当前规模: 2,314实体 / 2,245关系 / 5大类型</a:t>
            </a:r>
          </a:p>
        </p:txBody>
      </p:sp>
      <p:pic>
        <p:nvPicPr>
          <p:cNvPr id="31" name="Picture 30" descr="04_k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657600"/>
            <a:ext cx="5669280" cy="28346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943600" y="64922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KG: D3力导向可视化+多维分类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06 . 知识图谱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系统截图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System Screenshots . 5 Core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669280" cy="1737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4747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Dashboard: 核心指标+业务流程+快速操作</a:t>
            </a:r>
          </a:p>
        </p:txBody>
      </p:sp>
      <p:pic>
        <p:nvPicPr>
          <p:cNvPr id="9" name="Picture 8" descr="02_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5669280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34747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Agent: ReAct+CoT+任务配置+执行控制</a:t>
            </a:r>
          </a:p>
        </p:txBody>
      </p:sp>
      <p:pic>
        <p:nvPicPr>
          <p:cNvPr id="11" name="Picture 10" descr="03_q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20440"/>
            <a:ext cx="5669280" cy="1737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53035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RAG: 惯性领域知识智能检索</a:t>
            </a:r>
          </a:p>
        </p:txBody>
      </p:sp>
      <p:pic>
        <p:nvPicPr>
          <p:cNvPr id="13" name="Picture 12" descr="04_k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520440"/>
            <a:ext cx="5669280" cy="1737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920" y="53035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KG: D3力导向可视化+多维分类</a:t>
            </a:r>
          </a:p>
        </p:txBody>
      </p:sp>
      <p:pic>
        <p:nvPicPr>
          <p:cNvPr id="15" name="Picture 14" descr="05_par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5349240"/>
            <a:ext cx="5669280" cy="1737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74720" y="71323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PDF: 拖拽上传+批量处理+任务管理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07 . 系统截图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部署与运维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Deployment and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303520" cy="443484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快速启动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git clone https://github.com/insruler/MinerU-Track2-Agent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pip install -r requirements.txt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6382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export MINIMAX_API_KEY=your_key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0273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export MINIMAX_GROUP_ID=your_group_id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python3 app.py  # http://localhost:7883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91640"/>
            <a:ext cx="5303520" cy="210312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systemd守护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sudo cp deploy/insruler.service /etc/systemd/system/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sudo systemctl daemon-reload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sudo systemctl enable --now insruler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20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systemctl status insruler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86200"/>
            <a:ext cx="5303520" cy="22402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0233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在线验证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演示: http://49.232.174.229:7883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92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API文档: http://49.232.174.229:7883/api/docs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303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健康检查: http://49.232.174.229:7883/api/health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715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统计: http://49.232.174.229:7883/api/stats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08 . 部署与运维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评分维度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Five Dimensions . Self-Assessment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97280" cy="82296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20分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691640"/>
            <a:ext cx="9601200" cy="8229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17373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文档理解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真正RAG（28,741 chunks）.TF-IDF+BM25双路检索.引用溯源.356篇文档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1097280" cy="82296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15分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2651760"/>
            <a:ext cx="9601200" cy="8229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2697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技术创新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06324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ReAct+CoT思维链.领域知识图谱（2,314实体）.文档类型感知Schema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11880"/>
            <a:ext cx="1097280" cy="82296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30分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3611880"/>
            <a:ext cx="9601200" cy="8229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3657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Agent执行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0233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完整ReAct循环（Reason-Act-Observe）.6个注册工具.任务取消/暂停/恢复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572000"/>
            <a:ext cx="1097280" cy="82296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20分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4572000"/>
            <a:ext cx="9601200" cy="8229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4617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系统稳定性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98348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systemd守护（崩溃自动重启）.Correlation-ID全链路追踪.Pydantic v2参数校验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532120"/>
            <a:ext cx="1097280" cy="82296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5321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15分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5532120"/>
            <a:ext cx="9601200" cy="8229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0" y="5577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开源价值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94360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GitHub公开仓库完整代码.详细文档+PPT+视频.服务可直接访问验证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6492240"/>
            <a:ext cx="105156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62C"/>
                </a:solidFill>
              </a:defRPr>
            </a:pPr>
            <a:r>
              <a:t>目标总分: 95分+  (满分100分)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t>惯导智衡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0D0F0"/>
                </a:solidFill>
              </a:defRPr>
            </a:pPr>
            <a:r>
              <a:t>冲击 MinerU 赛道二 Data Agent 冠军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474720"/>
            <a:ext cx="8229600" cy="27432"/>
          </a:xfrm>
          <a:prstGeom prst="rect">
            <a:avLst/>
          </a:prstGeom>
          <a:solidFill>
            <a:srgbClr val="3A6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3840480"/>
            <a:ext cx="640080" cy="64008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F3D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文档理解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983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0FF"/>
                </a:solidFill>
              </a:defRPr>
            </a:pPr>
            <a:r>
              <a:t>真正RAG，28,741 chunks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3840480"/>
            <a:ext cx="640080" cy="64008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840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F3D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Agent执行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983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0FF"/>
                </a:solidFill>
              </a:defRPr>
            </a:pPr>
            <a:r>
              <a:t>ReAct + CoT，异步执行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840480"/>
            <a:ext cx="640080" cy="64008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840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F3D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开源部署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983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0FF"/>
                </a:solidFill>
              </a:defRPr>
            </a:pPr>
            <a:r>
              <a:t>GitHub公开，systemd守护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760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D0"/>
                </a:solidFill>
              </a:defRPr>
            </a:pPr>
            <a:r>
              <a:t>github.com/insruler/MinerU-Track2-Agent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126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D0"/>
                </a:solidFill>
              </a:defRPr>
            </a:pPr>
            <a:r>
              <a:t>49.232.174.229:7883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080A0"/>
                </a:solidFill>
              </a:defRPr>
            </a:pPr>
            <a:r>
              <a:t>12/12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3A6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